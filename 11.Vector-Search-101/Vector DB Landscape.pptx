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1"/>
  </p:notesMasterIdLst>
  <p:sldIdLst>
    <p:sldId id="256" r:id="rId2"/>
    <p:sldId id="674" r:id="rId3"/>
    <p:sldId id="257" r:id="rId4"/>
    <p:sldId id="258" r:id="rId5"/>
    <p:sldId id="259" r:id="rId6"/>
    <p:sldId id="260" r:id="rId7"/>
    <p:sldId id="261" r:id="rId8"/>
    <p:sldId id="262" r:id="rId9"/>
    <p:sldId id="30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6" userDrawn="1">
          <p15:clr>
            <a:srgbClr val="A4A3A4"/>
          </p15:clr>
        </p15:guide>
        <p15:guide id="2" orient="horz" pos="799" userDrawn="1">
          <p15:clr>
            <a:srgbClr val="A4A3A4"/>
          </p15:clr>
        </p15:guide>
        <p15:guide id="3" orient="horz" pos="1026" userDrawn="1">
          <p15:clr>
            <a:srgbClr val="A4A3A4"/>
          </p15:clr>
        </p15:guide>
        <p15:guide id="4" pos="438" userDrawn="1">
          <p15:clr>
            <a:srgbClr val="A4A3A4"/>
          </p15:clr>
        </p15:guide>
        <p15:guide id="5" pos="7242" userDrawn="1">
          <p15:clr>
            <a:srgbClr val="A4A3A4"/>
          </p15:clr>
        </p15:guide>
        <p15:guide id="6" orient="horz"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1A3E"/>
    <a:srgbClr val="51546F"/>
    <a:srgbClr val="333F50"/>
    <a:srgbClr val="8497B0"/>
    <a:srgbClr val="8FAADC"/>
    <a:srgbClr val="2F5597"/>
    <a:srgbClr val="626CC7"/>
    <a:srgbClr val="323B8D"/>
    <a:srgbClr val="21275D"/>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15" autoAdjust="0"/>
    <p:restoredTop sz="93447" autoAdjust="0"/>
  </p:normalViewPr>
  <p:slideViewPr>
    <p:cSldViewPr snapToGrid="0">
      <p:cViewPr varScale="1">
        <p:scale>
          <a:sx n="103" d="100"/>
          <a:sy n="103" d="100"/>
        </p:scale>
        <p:origin x="450" y="114"/>
      </p:cViewPr>
      <p:guideLst>
        <p:guide orient="horz" pos="346"/>
        <p:guide orient="horz" pos="799"/>
        <p:guide orient="horz" pos="1026"/>
        <p:guide pos="438"/>
        <p:guide pos="7242"/>
        <p:guide orient="horz" pos="3838"/>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07-06-2025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31800" y="89584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solidFill>
                <a:srgbClr val="161A3E"/>
              </a:solidFill>
            </a:endParaRPr>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solidFill>
                <a:srgbClr val="161A3E"/>
              </a:solidFill>
            </a:endParaRPr>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solidFill>
                <a:srgbClr val="161A3E"/>
              </a:solidFill>
            </a:endParaRPr>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1659835"/>
            <a:ext cx="7057847"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5" name="Title 1">
            <a:extLst>
              <a:ext uri="{FF2B5EF4-FFF2-40B4-BE49-F238E27FC236}">
                <a16:creationId xmlns:a16="http://schemas.microsoft.com/office/drawing/2014/main" id="{F169BDF6-EA32-8D15-7297-96F5B8F6EF09}"/>
              </a:ext>
            </a:extLst>
          </p:cNvPr>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5999928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solidFill>
                <a:srgbClr val="161A3E"/>
              </a:solidFill>
            </a:endParaRP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
        <p:nvSpPr>
          <p:cNvPr id="5" name="Title 1">
            <a:extLst>
              <a:ext uri="{FF2B5EF4-FFF2-40B4-BE49-F238E27FC236}">
                <a16:creationId xmlns:a16="http://schemas.microsoft.com/office/drawing/2014/main" id="{8AA7827E-D2A7-AA00-8D40-7B76E978D014}"/>
              </a:ext>
            </a:extLst>
          </p:cNvPr>
          <p:cNvSpPr>
            <a:spLocks noGrp="1"/>
          </p:cNvSpPr>
          <p:nvPr>
            <p:ph type="title"/>
          </p:nvPr>
        </p:nvSpPr>
        <p:spPr>
          <a:xfrm>
            <a:off x="838202" y="2049670"/>
            <a:ext cx="2743200" cy="2562226"/>
          </a:xfrm>
        </p:spPr>
        <p:txBody>
          <a:bodyPr/>
          <a:lstStyle>
            <a:lvl1pPr>
              <a:defRPr>
                <a:solidFill>
                  <a:srgbClr val="161A3E"/>
                </a:solidFill>
              </a:defRPr>
            </a:lvl1pPr>
          </a:lstStyle>
          <a:p>
            <a:r>
              <a:rPr lang="en-US" dirty="0"/>
              <a:t>Click to edit Master title style</a:t>
            </a:r>
          </a:p>
        </p:txBody>
      </p:sp>
    </p:spTree>
    <p:extLst>
      <p:ext uri="{BB962C8B-B14F-4D97-AF65-F5344CB8AC3E}">
        <p14:creationId xmlns:p14="http://schemas.microsoft.com/office/powerpoint/2010/main" val="6455390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61A3E"/>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solidFill>
                <a:srgbClr val="161A3E"/>
              </a:solidFill>
            </a:endParaRPr>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solidFill>
                  <a:srgbClr val="161A3E"/>
                </a:solidFill>
              </a:defRPr>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rgbClr val="161A3E"/>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lvl1pPr>
              <a:defRPr>
                <a:solidFill>
                  <a:srgbClr val="161A3E"/>
                </a:solidFill>
              </a:defRPr>
            </a:lvl1p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solidFill>
                  <a:srgbClr val="161A3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solidFill>
                  <a:srgbClr val="161A3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lvl1pPr>
              <a:defRPr>
                <a:solidFill>
                  <a:srgbClr val="161A3E"/>
                </a:solidFill>
              </a:defRPr>
            </a:lvl1p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rgbClr val="161A3E"/>
                </a:solidFill>
              </a:defRPr>
            </a:lvl1pPr>
            <a:lvl2pPr>
              <a:defRPr sz="2800">
                <a:solidFill>
                  <a:srgbClr val="161A3E"/>
                </a:solidFill>
              </a:defRPr>
            </a:lvl2pPr>
            <a:lvl3pPr>
              <a:defRPr sz="2400">
                <a:solidFill>
                  <a:srgbClr val="161A3E"/>
                </a:solidFill>
              </a:defRPr>
            </a:lvl3pPr>
            <a:lvl4pPr>
              <a:defRPr sz="2000">
                <a:solidFill>
                  <a:srgbClr val="161A3E"/>
                </a:solidFill>
              </a:defRPr>
            </a:lvl4pPr>
            <a:lvl5pPr>
              <a:defRPr sz="2000">
                <a:solidFill>
                  <a:srgbClr val="161A3E"/>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solidFill>
                  <a:srgbClr val="161A3E"/>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lvl1pPr>
              <a:defRPr>
                <a:solidFill>
                  <a:srgbClr val="161A3E"/>
                </a:solidFill>
              </a:defRPr>
            </a:lvl1p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695325" y="1283543"/>
            <a:ext cx="10801350" cy="44640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solidFill>
                  <a:srgbClr val="FFFFFF"/>
                </a:solidFill>
              </a:rPr>
              <a:t>Vector Database Landscape</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704655" y="558606"/>
            <a:ext cx="10801351" cy="719139"/>
          </a:xfrm>
        </p:spPr>
        <p:txBody>
          <a:bodyPr/>
          <a:lstStyle/>
          <a:p>
            <a:r>
              <a:rPr lang="en-IN" dirty="0">
                <a:solidFill>
                  <a:srgbClr val="161A3E"/>
                </a:solidFill>
              </a:rPr>
              <a:t>Agenda</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711766" y="1638106"/>
            <a:ext cx="10784909" cy="4454719"/>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sz="2400" dirty="0"/>
              <a:t>Importance of Vector Databases</a:t>
            </a:r>
          </a:p>
          <a:p>
            <a:pPr lvl="0"/>
            <a:r>
              <a:rPr lang="en-IN" sz="2400" dirty="0" err="1"/>
              <a:t>Weaviate</a:t>
            </a:r>
            <a:r>
              <a:rPr lang="en-IN" sz="2400" dirty="0"/>
              <a:t> vs Pinecone vs Chroma</a:t>
            </a:r>
          </a:p>
          <a:p>
            <a:pPr lvl="0"/>
            <a:r>
              <a:rPr lang="en-IN" sz="2400" dirty="0"/>
              <a:t>Deep Dive – </a:t>
            </a:r>
            <a:r>
              <a:rPr lang="en-IN" sz="2400" dirty="0" err="1"/>
              <a:t>Weaviate</a:t>
            </a:r>
            <a:endParaRPr lang="en-IN" sz="2400" dirty="0"/>
          </a:p>
          <a:p>
            <a:pPr lvl="0"/>
            <a:r>
              <a:rPr lang="en-IN" sz="2400" dirty="0"/>
              <a:t>Deep Dive – Pinecone</a:t>
            </a:r>
          </a:p>
          <a:p>
            <a:pPr lvl="0"/>
            <a:r>
              <a:rPr lang="en-IN" sz="2400" dirty="0"/>
              <a:t>Deep Dive – Chroma</a:t>
            </a:r>
          </a:p>
          <a:p>
            <a:pPr lvl="0"/>
            <a:r>
              <a:rPr lang="en-IN" sz="2400" dirty="0"/>
              <a:t>Hybrid Search</a:t>
            </a:r>
          </a:p>
        </p:txBody>
      </p:sp>
    </p:spTree>
    <p:extLst>
      <p:ext uri="{BB962C8B-B14F-4D97-AF65-F5344CB8AC3E}">
        <p14:creationId xmlns:p14="http://schemas.microsoft.com/office/powerpoint/2010/main" val="2272459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6B442-A52E-DA14-31A3-647D63F5D390}"/>
              </a:ext>
            </a:extLst>
          </p:cNvPr>
          <p:cNvSpPr>
            <a:spLocks noGrp="1"/>
          </p:cNvSpPr>
          <p:nvPr>
            <p:ph type="title"/>
          </p:nvPr>
        </p:nvSpPr>
        <p:spPr>
          <a:xfrm>
            <a:off x="704656" y="558607"/>
            <a:ext cx="10792020" cy="709806"/>
          </a:xfrm>
        </p:spPr>
        <p:txBody>
          <a:bodyPr/>
          <a:lstStyle/>
          <a:p>
            <a:r>
              <a:rPr lang="en-IN" dirty="0"/>
              <a:t>Why Vector Databases Matter</a:t>
            </a:r>
            <a:endParaRPr lang="en-US" dirty="0"/>
          </a:p>
        </p:txBody>
      </p:sp>
      <p:sp>
        <p:nvSpPr>
          <p:cNvPr id="3" name="Content Placeholder 2">
            <a:extLst>
              <a:ext uri="{FF2B5EF4-FFF2-40B4-BE49-F238E27FC236}">
                <a16:creationId xmlns:a16="http://schemas.microsoft.com/office/drawing/2014/main" id="{6E74D6FE-6E8E-C9E8-E2FA-6CD698A4E50E}"/>
              </a:ext>
            </a:extLst>
          </p:cNvPr>
          <p:cNvSpPr>
            <a:spLocks noGrp="1"/>
          </p:cNvSpPr>
          <p:nvPr>
            <p:ph idx="1"/>
          </p:nvPr>
        </p:nvSpPr>
        <p:spPr>
          <a:xfrm>
            <a:off x="704656" y="1638106"/>
            <a:ext cx="10792020" cy="4454719"/>
          </a:xfrm>
        </p:spPr>
        <p:txBody>
          <a:bodyPr>
            <a:normAutofit/>
          </a:bodyPr>
          <a:lstStyle/>
          <a:p>
            <a:pPr marL="0" indent="0">
              <a:spcBef>
                <a:spcPts val="600"/>
              </a:spcBef>
              <a:spcAft>
                <a:spcPts val="600"/>
              </a:spcAft>
              <a:buNone/>
            </a:pPr>
            <a:r>
              <a:rPr lang="en-IN" sz="2400" b="1" dirty="0"/>
              <a:t>Need for Vector DBs:</a:t>
            </a:r>
            <a:endParaRPr lang="en-IN" sz="2400" dirty="0"/>
          </a:p>
          <a:p>
            <a:pPr lvl="1">
              <a:spcBef>
                <a:spcPts val="600"/>
              </a:spcBef>
              <a:spcAft>
                <a:spcPts val="600"/>
              </a:spcAft>
            </a:pPr>
            <a:r>
              <a:rPr lang="en-IN" dirty="0"/>
              <a:t>Traditional DBs fail for semantic search</a:t>
            </a:r>
          </a:p>
          <a:p>
            <a:pPr lvl="1">
              <a:spcBef>
                <a:spcPts val="600"/>
              </a:spcBef>
              <a:spcAft>
                <a:spcPts val="600"/>
              </a:spcAft>
            </a:pPr>
            <a:r>
              <a:rPr lang="en-IN" dirty="0"/>
              <a:t>LLMs require scalable, low-latency retrieval</a:t>
            </a:r>
          </a:p>
          <a:p>
            <a:pPr marL="0" indent="0">
              <a:spcBef>
                <a:spcPts val="600"/>
              </a:spcBef>
              <a:spcAft>
                <a:spcPts val="600"/>
              </a:spcAft>
              <a:buNone/>
            </a:pPr>
            <a:r>
              <a:rPr lang="en-IN" sz="2400" b="1" dirty="0"/>
              <a:t>Key Capabilities:</a:t>
            </a:r>
            <a:endParaRPr lang="en-IN" sz="2400" dirty="0"/>
          </a:p>
          <a:p>
            <a:pPr lvl="1">
              <a:spcBef>
                <a:spcPts val="600"/>
              </a:spcBef>
              <a:spcAft>
                <a:spcPts val="600"/>
              </a:spcAft>
            </a:pPr>
            <a:r>
              <a:rPr lang="en-IN" dirty="0"/>
              <a:t>Storage + indexing of dense embeddings</a:t>
            </a:r>
          </a:p>
          <a:p>
            <a:pPr lvl="1">
              <a:spcBef>
                <a:spcPts val="600"/>
              </a:spcBef>
              <a:spcAft>
                <a:spcPts val="600"/>
              </a:spcAft>
            </a:pPr>
            <a:r>
              <a:rPr lang="en-IN" dirty="0"/>
              <a:t>Fast Approximate Nearest </a:t>
            </a:r>
            <a:r>
              <a:rPr lang="en-IN" dirty="0" err="1"/>
              <a:t>Neighbor</a:t>
            </a:r>
            <a:r>
              <a:rPr lang="en-IN" dirty="0"/>
              <a:t> (ANN) search</a:t>
            </a:r>
          </a:p>
          <a:p>
            <a:pPr lvl="1">
              <a:spcBef>
                <a:spcPts val="600"/>
              </a:spcBef>
              <a:spcAft>
                <a:spcPts val="600"/>
              </a:spcAft>
            </a:pPr>
            <a:r>
              <a:rPr lang="en-IN" dirty="0"/>
              <a:t>Metadata filtering</a:t>
            </a:r>
          </a:p>
          <a:p>
            <a:pPr lvl="1">
              <a:spcBef>
                <a:spcPts val="600"/>
              </a:spcBef>
              <a:spcAft>
                <a:spcPts val="600"/>
              </a:spcAft>
            </a:pPr>
            <a:r>
              <a:rPr lang="en-IN" dirty="0"/>
              <a:t>Scalability and persistence</a:t>
            </a:r>
          </a:p>
        </p:txBody>
      </p:sp>
    </p:spTree>
    <p:extLst>
      <p:ext uri="{BB962C8B-B14F-4D97-AF65-F5344CB8AC3E}">
        <p14:creationId xmlns:p14="http://schemas.microsoft.com/office/powerpoint/2010/main" val="2494825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ED75D-7463-E137-A89F-40500BDE9405}"/>
              </a:ext>
            </a:extLst>
          </p:cNvPr>
          <p:cNvSpPr>
            <a:spLocks noGrp="1"/>
          </p:cNvSpPr>
          <p:nvPr>
            <p:ph type="title"/>
          </p:nvPr>
        </p:nvSpPr>
        <p:spPr>
          <a:xfrm>
            <a:off x="695325" y="560080"/>
            <a:ext cx="10801350" cy="708333"/>
          </a:xfrm>
        </p:spPr>
        <p:txBody>
          <a:bodyPr>
            <a:normAutofit/>
          </a:bodyPr>
          <a:lstStyle/>
          <a:p>
            <a:pPr>
              <a:lnSpc>
                <a:spcPct val="90000"/>
              </a:lnSpc>
            </a:pPr>
            <a:r>
              <a:rPr lang="en-IN" dirty="0" err="1"/>
              <a:t>Weaviate</a:t>
            </a:r>
            <a:r>
              <a:rPr lang="en-IN" dirty="0"/>
              <a:t> vs Pinecone vs Chroma – Feature Overview</a:t>
            </a:r>
            <a:endParaRPr lang="en-US" dirty="0"/>
          </a:p>
        </p:txBody>
      </p:sp>
      <p:graphicFrame>
        <p:nvGraphicFramePr>
          <p:cNvPr id="4" name="Content Placeholder 3">
            <a:extLst>
              <a:ext uri="{FF2B5EF4-FFF2-40B4-BE49-F238E27FC236}">
                <a16:creationId xmlns:a16="http://schemas.microsoft.com/office/drawing/2014/main" id="{4178898A-90A3-54D2-8789-A0A79716B753}"/>
              </a:ext>
            </a:extLst>
          </p:cNvPr>
          <p:cNvGraphicFramePr>
            <a:graphicFrameLocks noGrp="1"/>
          </p:cNvGraphicFramePr>
          <p:nvPr>
            <p:ph idx="1"/>
            <p:extLst>
              <p:ext uri="{D42A27DB-BD31-4B8C-83A1-F6EECF244321}">
                <p14:modId xmlns:p14="http://schemas.microsoft.com/office/powerpoint/2010/main" val="2910899510"/>
              </p:ext>
            </p:extLst>
          </p:nvPr>
        </p:nvGraphicFramePr>
        <p:xfrm>
          <a:off x="695325" y="1628776"/>
          <a:ext cx="10801348" cy="4464047"/>
        </p:xfrm>
        <a:graphic>
          <a:graphicData uri="http://schemas.openxmlformats.org/drawingml/2006/table">
            <a:tbl>
              <a:tblPr/>
              <a:tblGrid>
                <a:gridCol w="2700337">
                  <a:extLst>
                    <a:ext uri="{9D8B030D-6E8A-4147-A177-3AD203B41FA5}">
                      <a16:colId xmlns:a16="http://schemas.microsoft.com/office/drawing/2014/main" val="775707245"/>
                    </a:ext>
                  </a:extLst>
                </a:gridCol>
                <a:gridCol w="2700337">
                  <a:extLst>
                    <a:ext uri="{9D8B030D-6E8A-4147-A177-3AD203B41FA5}">
                      <a16:colId xmlns:a16="http://schemas.microsoft.com/office/drawing/2014/main" val="942122450"/>
                    </a:ext>
                  </a:extLst>
                </a:gridCol>
                <a:gridCol w="2700337">
                  <a:extLst>
                    <a:ext uri="{9D8B030D-6E8A-4147-A177-3AD203B41FA5}">
                      <a16:colId xmlns:a16="http://schemas.microsoft.com/office/drawing/2014/main" val="1907003397"/>
                    </a:ext>
                  </a:extLst>
                </a:gridCol>
                <a:gridCol w="2700337">
                  <a:extLst>
                    <a:ext uri="{9D8B030D-6E8A-4147-A177-3AD203B41FA5}">
                      <a16:colId xmlns:a16="http://schemas.microsoft.com/office/drawing/2014/main" val="1388361928"/>
                    </a:ext>
                  </a:extLst>
                </a:gridCol>
              </a:tblGrid>
              <a:tr h="445009">
                <a:tc>
                  <a:txBody>
                    <a:bodyPr/>
                    <a:lstStyle/>
                    <a:p>
                      <a:r>
                        <a:rPr lang="en-IN" sz="2000" b="1" dirty="0"/>
                        <a:t>Feature</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2000" b="1" dirty="0" err="1"/>
                        <a:t>Weaviate</a:t>
                      </a:r>
                      <a:endParaRPr lang="en-IN" sz="2000" b="1" dirty="0"/>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2000" b="1" dirty="0"/>
                        <a:t>Pinecone</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2000" b="1" dirty="0"/>
                        <a:t>Chroma</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1697084134"/>
                  </a:ext>
                </a:extLst>
              </a:tr>
              <a:tr h="445009">
                <a:tc>
                  <a:txBody>
                    <a:bodyPr/>
                    <a:lstStyle/>
                    <a:p>
                      <a:r>
                        <a:rPr lang="en-IN" sz="2000" dirty="0"/>
                        <a:t>Hosting</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Self-hosted + Cloud</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Cloud only</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Local</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5346293"/>
                  </a:ext>
                </a:extLst>
              </a:tr>
              <a:tr h="746334">
                <a:tc>
                  <a:txBody>
                    <a:bodyPr/>
                    <a:lstStyle/>
                    <a:p>
                      <a:r>
                        <a:rPr lang="en-IN" sz="2000" dirty="0"/>
                        <a:t>Indexing Algo</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HNSW, Brute-force</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Proprietary (vector + metadata)</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HNSW</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906517"/>
                  </a:ext>
                </a:extLst>
              </a:tr>
              <a:tr h="746334">
                <a:tc>
                  <a:txBody>
                    <a:bodyPr/>
                    <a:lstStyle/>
                    <a:p>
                      <a:r>
                        <a:rPr lang="en-IN" sz="2000" dirty="0"/>
                        <a:t>Hybrid Search</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 BM25 + Vectors</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 Metadata + vectors</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 Basic vector search only</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300794"/>
                  </a:ext>
                </a:extLst>
              </a:tr>
              <a:tr h="746334">
                <a:tc>
                  <a:txBody>
                    <a:bodyPr/>
                    <a:lstStyle/>
                    <a:p>
                      <a:r>
                        <a:rPr lang="en-IN" sz="2000" dirty="0"/>
                        <a:t>Scalability</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High (sharding, etc.)</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a:t>Very High (fully managed)</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Low</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8679837"/>
                  </a:ext>
                </a:extLst>
              </a:tr>
              <a:tr h="445009">
                <a:tc>
                  <a:txBody>
                    <a:bodyPr/>
                    <a:lstStyle/>
                    <a:p>
                      <a:r>
                        <a:rPr lang="en-IN" sz="2000" dirty="0"/>
                        <a:t>Query Language</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err="1"/>
                        <a:t>GraphQL</a:t>
                      </a:r>
                      <a:r>
                        <a:rPr lang="en-IN" sz="2000" dirty="0"/>
                        <a:t> + REST</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a:t>REST + SDKs</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Python API</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729763"/>
                  </a:ext>
                </a:extLst>
              </a:tr>
              <a:tr h="445009">
                <a:tc>
                  <a:txBody>
                    <a:bodyPr/>
                    <a:lstStyle/>
                    <a:p>
                      <a:r>
                        <a:rPr lang="en-IN" sz="2000" dirty="0"/>
                        <a:t>Filtering</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Rich (filters, </a:t>
                      </a:r>
                      <a:r>
                        <a:rPr lang="en-IN" sz="2000" dirty="0" err="1"/>
                        <a:t>nearText</a:t>
                      </a:r>
                      <a:r>
                        <a:rPr lang="en-IN" sz="2000" dirty="0"/>
                        <a:t>)</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a:t>Rich (filter, metadata)</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Limited</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0314823"/>
                  </a:ext>
                </a:extLst>
              </a:tr>
              <a:tr h="445009">
                <a:tc>
                  <a:txBody>
                    <a:bodyPr/>
                    <a:lstStyle/>
                    <a:p>
                      <a:r>
                        <a:rPr lang="en-IN" sz="2000" dirty="0"/>
                        <a:t>Open Source</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 Yes</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 No</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t>✅ Yes</a:t>
                      </a:r>
                    </a:p>
                  </a:txBody>
                  <a:tcPr marL="83614" marR="83614" marT="41807" marB="41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1296743"/>
                  </a:ext>
                </a:extLst>
              </a:tr>
            </a:tbl>
          </a:graphicData>
        </a:graphic>
      </p:graphicFrame>
    </p:spTree>
    <p:extLst>
      <p:ext uri="{BB962C8B-B14F-4D97-AF65-F5344CB8AC3E}">
        <p14:creationId xmlns:p14="http://schemas.microsoft.com/office/powerpoint/2010/main" val="3260470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5E817-6E97-D8B2-F092-1B3D7EE30DC2}"/>
              </a:ext>
            </a:extLst>
          </p:cNvPr>
          <p:cNvSpPr>
            <a:spLocks noGrp="1"/>
          </p:cNvSpPr>
          <p:nvPr>
            <p:ph type="title"/>
          </p:nvPr>
        </p:nvSpPr>
        <p:spPr>
          <a:xfrm>
            <a:off x="704656" y="558606"/>
            <a:ext cx="10792020" cy="709807"/>
          </a:xfrm>
        </p:spPr>
        <p:txBody>
          <a:bodyPr/>
          <a:lstStyle/>
          <a:p>
            <a:r>
              <a:rPr lang="en-IN" dirty="0"/>
              <a:t>Deep Dive – </a:t>
            </a:r>
            <a:r>
              <a:rPr lang="en-IN" dirty="0" err="1"/>
              <a:t>Weaviate</a:t>
            </a:r>
            <a:endParaRPr lang="en-US" dirty="0"/>
          </a:p>
        </p:txBody>
      </p:sp>
      <p:sp>
        <p:nvSpPr>
          <p:cNvPr id="3" name="Content Placeholder 2">
            <a:extLst>
              <a:ext uri="{FF2B5EF4-FFF2-40B4-BE49-F238E27FC236}">
                <a16:creationId xmlns:a16="http://schemas.microsoft.com/office/drawing/2014/main" id="{6C9CF03A-ADBB-ED45-DA32-BCF5768E2B61}"/>
              </a:ext>
            </a:extLst>
          </p:cNvPr>
          <p:cNvSpPr>
            <a:spLocks noGrp="1"/>
          </p:cNvSpPr>
          <p:nvPr>
            <p:ph idx="1"/>
          </p:nvPr>
        </p:nvSpPr>
        <p:spPr>
          <a:xfrm>
            <a:off x="695325" y="1628775"/>
            <a:ext cx="10801350" cy="4464050"/>
          </a:xfrm>
        </p:spPr>
        <p:txBody>
          <a:bodyPr>
            <a:normAutofit/>
          </a:bodyPr>
          <a:lstStyle/>
          <a:p>
            <a:pPr marL="0" indent="0">
              <a:spcBef>
                <a:spcPts val="600"/>
              </a:spcBef>
              <a:spcAft>
                <a:spcPts val="600"/>
              </a:spcAft>
              <a:buNone/>
            </a:pPr>
            <a:r>
              <a:rPr lang="en-IN" sz="2400" b="1" dirty="0"/>
              <a:t>Key Features:</a:t>
            </a:r>
            <a:endParaRPr lang="en-IN" sz="2400" dirty="0"/>
          </a:p>
          <a:p>
            <a:pPr lvl="1">
              <a:spcBef>
                <a:spcPts val="600"/>
              </a:spcBef>
              <a:spcAft>
                <a:spcPts val="600"/>
              </a:spcAft>
            </a:pPr>
            <a:r>
              <a:rPr lang="en-IN" dirty="0"/>
              <a:t>Open-source with enterprise support</a:t>
            </a:r>
          </a:p>
          <a:p>
            <a:pPr lvl="1">
              <a:spcBef>
                <a:spcPts val="600"/>
              </a:spcBef>
              <a:spcAft>
                <a:spcPts val="600"/>
              </a:spcAft>
            </a:pPr>
            <a:r>
              <a:rPr lang="en-IN" dirty="0"/>
              <a:t>Built-in text2vec modules (e.g., OpenAI, Cohere)</a:t>
            </a:r>
          </a:p>
          <a:p>
            <a:pPr lvl="1">
              <a:spcBef>
                <a:spcPts val="600"/>
              </a:spcBef>
              <a:spcAft>
                <a:spcPts val="600"/>
              </a:spcAft>
            </a:pPr>
            <a:r>
              <a:rPr lang="en-IN" dirty="0"/>
              <a:t>Hybrid search: combines keyword + semantic</a:t>
            </a:r>
          </a:p>
          <a:p>
            <a:pPr lvl="1">
              <a:spcBef>
                <a:spcPts val="600"/>
              </a:spcBef>
              <a:spcAft>
                <a:spcPts val="600"/>
              </a:spcAft>
            </a:pPr>
            <a:r>
              <a:rPr lang="en-IN" dirty="0"/>
              <a:t>Schema-driven with </a:t>
            </a:r>
            <a:r>
              <a:rPr lang="en-IN" dirty="0" err="1"/>
              <a:t>GraphQL</a:t>
            </a:r>
            <a:r>
              <a:rPr lang="en-IN" dirty="0"/>
              <a:t> queries</a:t>
            </a:r>
          </a:p>
          <a:p>
            <a:pPr marL="0" indent="0">
              <a:spcBef>
                <a:spcPts val="600"/>
              </a:spcBef>
              <a:spcAft>
                <a:spcPts val="600"/>
              </a:spcAft>
              <a:buNone/>
            </a:pPr>
            <a:r>
              <a:rPr lang="en-IN" sz="2400" b="1" dirty="0"/>
              <a:t>Use Cases:</a:t>
            </a:r>
            <a:r>
              <a:rPr lang="en-IN" sz="2400" dirty="0"/>
              <a:t> AI search, personalized recommendations, RAG pipelines</a:t>
            </a:r>
          </a:p>
        </p:txBody>
      </p:sp>
    </p:spTree>
    <p:extLst>
      <p:ext uri="{BB962C8B-B14F-4D97-AF65-F5344CB8AC3E}">
        <p14:creationId xmlns:p14="http://schemas.microsoft.com/office/powerpoint/2010/main" val="1473855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98A8F-913C-0DA1-92F1-BB2ADC0E64DB}"/>
              </a:ext>
            </a:extLst>
          </p:cNvPr>
          <p:cNvSpPr>
            <a:spLocks noGrp="1"/>
          </p:cNvSpPr>
          <p:nvPr>
            <p:ph type="title"/>
          </p:nvPr>
        </p:nvSpPr>
        <p:spPr>
          <a:xfrm>
            <a:off x="704657" y="558606"/>
            <a:ext cx="10792018" cy="709807"/>
          </a:xfrm>
        </p:spPr>
        <p:txBody>
          <a:bodyPr/>
          <a:lstStyle/>
          <a:p>
            <a:r>
              <a:rPr lang="en-IN" dirty="0"/>
              <a:t>Deep Dive – Pinecone</a:t>
            </a:r>
            <a:endParaRPr lang="en-US" dirty="0"/>
          </a:p>
        </p:txBody>
      </p:sp>
      <p:sp>
        <p:nvSpPr>
          <p:cNvPr id="3" name="Content Placeholder 2">
            <a:extLst>
              <a:ext uri="{FF2B5EF4-FFF2-40B4-BE49-F238E27FC236}">
                <a16:creationId xmlns:a16="http://schemas.microsoft.com/office/drawing/2014/main" id="{5B457BAC-78F3-5522-A805-68F11455BF0D}"/>
              </a:ext>
            </a:extLst>
          </p:cNvPr>
          <p:cNvSpPr>
            <a:spLocks noGrp="1"/>
          </p:cNvSpPr>
          <p:nvPr>
            <p:ph idx="1"/>
          </p:nvPr>
        </p:nvSpPr>
        <p:spPr>
          <a:xfrm>
            <a:off x="711768" y="1638106"/>
            <a:ext cx="10784907" cy="4454719"/>
          </a:xfrm>
        </p:spPr>
        <p:txBody>
          <a:bodyPr>
            <a:normAutofit lnSpcReduction="10000"/>
          </a:bodyPr>
          <a:lstStyle/>
          <a:p>
            <a:pPr marL="0" indent="0">
              <a:spcBef>
                <a:spcPts val="600"/>
              </a:spcBef>
              <a:spcAft>
                <a:spcPts val="600"/>
              </a:spcAft>
              <a:buNone/>
            </a:pPr>
            <a:r>
              <a:rPr lang="en-IN" sz="2400" b="1" dirty="0"/>
              <a:t>Key Features:</a:t>
            </a:r>
            <a:endParaRPr lang="en-IN" sz="2400" dirty="0"/>
          </a:p>
          <a:p>
            <a:pPr lvl="1">
              <a:spcBef>
                <a:spcPts val="600"/>
              </a:spcBef>
              <a:spcAft>
                <a:spcPts val="600"/>
              </a:spcAft>
            </a:pPr>
            <a:r>
              <a:rPr lang="en-IN" dirty="0"/>
              <a:t>Cloud-native vector DB with managed scaling</a:t>
            </a:r>
          </a:p>
          <a:p>
            <a:pPr lvl="1">
              <a:spcBef>
                <a:spcPts val="600"/>
              </a:spcBef>
              <a:spcAft>
                <a:spcPts val="600"/>
              </a:spcAft>
            </a:pPr>
            <a:r>
              <a:rPr lang="en-IN" dirty="0"/>
              <a:t>Proprietary indexing optimized for latency</a:t>
            </a:r>
          </a:p>
          <a:p>
            <a:pPr lvl="1">
              <a:spcBef>
                <a:spcPts val="600"/>
              </a:spcBef>
              <a:spcAft>
                <a:spcPts val="600"/>
              </a:spcAft>
            </a:pPr>
            <a:r>
              <a:rPr lang="en-IN" dirty="0"/>
              <a:t>Supports namespaces, metadata filtering, streaming updates</a:t>
            </a:r>
          </a:p>
          <a:p>
            <a:pPr marL="0" indent="0">
              <a:spcBef>
                <a:spcPts val="600"/>
              </a:spcBef>
              <a:spcAft>
                <a:spcPts val="600"/>
              </a:spcAft>
              <a:buNone/>
            </a:pPr>
            <a:r>
              <a:rPr lang="en-IN" sz="2400" b="1" dirty="0"/>
              <a:t>Strengths:</a:t>
            </a:r>
            <a:endParaRPr lang="en-IN" sz="2400" dirty="0"/>
          </a:p>
          <a:p>
            <a:pPr lvl="1">
              <a:spcBef>
                <a:spcPts val="600"/>
              </a:spcBef>
              <a:spcAft>
                <a:spcPts val="600"/>
              </a:spcAft>
            </a:pPr>
            <a:r>
              <a:rPr lang="en-IN" dirty="0"/>
              <a:t>High availability, managed infra</a:t>
            </a:r>
          </a:p>
          <a:p>
            <a:pPr lvl="1">
              <a:spcBef>
                <a:spcPts val="600"/>
              </a:spcBef>
              <a:spcAft>
                <a:spcPts val="600"/>
              </a:spcAft>
            </a:pPr>
            <a:r>
              <a:rPr lang="en-IN" dirty="0"/>
              <a:t>Ideal for production RAG pipelines</a:t>
            </a:r>
          </a:p>
          <a:p>
            <a:pPr marL="0" indent="0">
              <a:spcBef>
                <a:spcPts val="600"/>
              </a:spcBef>
              <a:spcAft>
                <a:spcPts val="600"/>
              </a:spcAft>
              <a:buNone/>
            </a:pPr>
            <a:r>
              <a:rPr lang="en-IN" sz="2400" b="1" dirty="0"/>
              <a:t>Drawbacks:</a:t>
            </a:r>
            <a:endParaRPr lang="en-IN" sz="2400" dirty="0"/>
          </a:p>
          <a:p>
            <a:pPr lvl="1">
              <a:spcBef>
                <a:spcPts val="600"/>
              </a:spcBef>
              <a:spcAft>
                <a:spcPts val="600"/>
              </a:spcAft>
            </a:pPr>
            <a:r>
              <a:rPr lang="en-IN" dirty="0"/>
              <a:t>Not open-source</a:t>
            </a:r>
          </a:p>
          <a:p>
            <a:pPr lvl="1">
              <a:spcBef>
                <a:spcPts val="600"/>
              </a:spcBef>
              <a:spcAft>
                <a:spcPts val="600"/>
              </a:spcAft>
            </a:pPr>
            <a:r>
              <a:rPr lang="en-IN" dirty="0"/>
              <a:t>Costs scale quickly with usage</a:t>
            </a:r>
          </a:p>
        </p:txBody>
      </p:sp>
    </p:spTree>
    <p:extLst>
      <p:ext uri="{BB962C8B-B14F-4D97-AF65-F5344CB8AC3E}">
        <p14:creationId xmlns:p14="http://schemas.microsoft.com/office/powerpoint/2010/main" val="1962940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3B1F6-6704-A305-49B3-BB7F04A6009F}"/>
              </a:ext>
            </a:extLst>
          </p:cNvPr>
          <p:cNvSpPr>
            <a:spLocks noGrp="1"/>
          </p:cNvSpPr>
          <p:nvPr>
            <p:ph type="title"/>
          </p:nvPr>
        </p:nvSpPr>
        <p:spPr>
          <a:xfrm>
            <a:off x="704657" y="558606"/>
            <a:ext cx="10792018" cy="709807"/>
          </a:xfrm>
        </p:spPr>
        <p:txBody>
          <a:bodyPr/>
          <a:lstStyle/>
          <a:p>
            <a:r>
              <a:rPr lang="en-IN" dirty="0"/>
              <a:t>Deep Dive – Chroma</a:t>
            </a:r>
            <a:endParaRPr lang="en-US" dirty="0"/>
          </a:p>
        </p:txBody>
      </p:sp>
      <p:sp>
        <p:nvSpPr>
          <p:cNvPr id="3" name="Content Placeholder 2">
            <a:extLst>
              <a:ext uri="{FF2B5EF4-FFF2-40B4-BE49-F238E27FC236}">
                <a16:creationId xmlns:a16="http://schemas.microsoft.com/office/drawing/2014/main" id="{B8A5018D-7CA8-AEE1-91A3-C9C6AB887633}"/>
              </a:ext>
            </a:extLst>
          </p:cNvPr>
          <p:cNvSpPr>
            <a:spLocks noGrp="1"/>
          </p:cNvSpPr>
          <p:nvPr>
            <p:ph idx="1"/>
          </p:nvPr>
        </p:nvSpPr>
        <p:spPr>
          <a:xfrm>
            <a:off x="711768" y="1638106"/>
            <a:ext cx="10784907" cy="4454719"/>
          </a:xfrm>
        </p:spPr>
        <p:txBody>
          <a:bodyPr>
            <a:normAutofit/>
          </a:bodyPr>
          <a:lstStyle/>
          <a:p>
            <a:pPr marL="0" indent="0">
              <a:spcBef>
                <a:spcPts val="600"/>
              </a:spcBef>
              <a:spcAft>
                <a:spcPts val="600"/>
              </a:spcAft>
              <a:buNone/>
            </a:pPr>
            <a:r>
              <a:rPr lang="en-IN" sz="2400" b="1" dirty="0"/>
              <a:t>Key Features:</a:t>
            </a:r>
            <a:endParaRPr lang="en-IN" sz="2400" dirty="0"/>
          </a:p>
          <a:p>
            <a:pPr lvl="1">
              <a:spcBef>
                <a:spcPts val="600"/>
              </a:spcBef>
              <a:spcAft>
                <a:spcPts val="600"/>
              </a:spcAft>
            </a:pPr>
            <a:r>
              <a:rPr lang="en-IN" dirty="0"/>
              <a:t>Lightweight, Python-native vector store</a:t>
            </a:r>
          </a:p>
          <a:p>
            <a:pPr lvl="1">
              <a:spcBef>
                <a:spcPts val="600"/>
              </a:spcBef>
              <a:spcAft>
                <a:spcPts val="600"/>
              </a:spcAft>
            </a:pPr>
            <a:r>
              <a:rPr lang="en-IN" dirty="0"/>
              <a:t>Easy to use with </a:t>
            </a:r>
            <a:r>
              <a:rPr lang="en-IN" dirty="0" err="1"/>
              <a:t>LangChain</a:t>
            </a:r>
            <a:endParaRPr lang="en-IN" dirty="0"/>
          </a:p>
          <a:p>
            <a:pPr lvl="1">
              <a:spcBef>
                <a:spcPts val="600"/>
              </a:spcBef>
              <a:spcAft>
                <a:spcPts val="600"/>
              </a:spcAft>
            </a:pPr>
            <a:r>
              <a:rPr lang="en-IN" dirty="0"/>
              <a:t>Good for experimentation and local prototyping</a:t>
            </a:r>
          </a:p>
          <a:p>
            <a:pPr marL="0" indent="0">
              <a:spcBef>
                <a:spcPts val="600"/>
              </a:spcBef>
              <a:spcAft>
                <a:spcPts val="600"/>
              </a:spcAft>
              <a:buNone/>
            </a:pPr>
            <a:r>
              <a:rPr lang="en-IN" sz="2400" b="1" dirty="0"/>
              <a:t>Limitations:</a:t>
            </a:r>
            <a:endParaRPr lang="en-IN" sz="2400" dirty="0"/>
          </a:p>
          <a:p>
            <a:pPr lvl="1">
              <a:spcBef>
                <a:spcPts val="600"/>
              </a:spcBef>
              <a:spcAft>
                <a:spcPts val="600"/>
              </a:spcAft>
            </a:pPr>
            <a:r>
              <a:rPr lang="en-IN" dirty="0"/>
              <a:t>No hybrid search or sharding</a:t>
            </a:r>
          </a:p>
          <a:p>
            <a:pPr lvl="1">
              <a:spcBef>
                <a:spcPts val="600"/>
              </a:spcBef>
              <a:spcAft>
                <a:spcPts val="600"/>
              </a:spcAft>
            </a:pPr>
            <a:r>
              <a:rPr lang="en-IN" dirty="0"/>
              <a:t>Not built for production scale</a:t>
            </a:r>
          </a:p>
        </p:txBody>
      </p:sp>
    </p:spTree>
    <p:extLst>
      <p:ext uri="{BB962C8B-B14F-4D97-AF65-F5344CB8AC3E}">
        <p14:creationId xmlns:p14="http://schemas.microsoft.com/office/powerpoint/2010/main" val="1702092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73BD7-5F47-5F5D-4454-84E424D1CA7E}"/>
              </a:ext>
            </a:extLst>
          </p:cNvPr>
          <p:cNvSpPr>
            <a:spLocks noGrp="1"/>
          </p:cNvSpPr>
          <p:nvPr>
            <p:ph type="title"/>
          </p:nvPr>
        </p:nvSpPr>
        <p:spPr>
          <a:xfrm>
            <a:off x="704656" y="558606"/>
            <a:ext cx="10792019" cy="709807"/>
          </a:xfrm>
        </p:spPr>
        <p:txBody>
          <a:bodyPr/>
          <a:lstStyle/>
          <a:p>
            <a:r>
              <a:rPr lang="en-IN" dirty="0"/>
              <a:t>Hybrid Search – Best of Both Worlds</a:t>
            </a:r>
            <a:endParaRPr lang="en-US" dirty="0"/>
          </a:p>
        </p:txBody>
      </p:sp>
      <p:sp>
        <p:nvSpPr>
          <p:cNvPr id="3" name="Content Placeholder 2">
            <a:extLst>
              <a:ext uri="{FF2B5EF4-FFF2-40B4-BE49-F238E27FC236}">
                <a16:creationId xmlns:a16="http://schemas.microsoft.com/office/drawing/2014/main" id="{25F20569-4908-0082-ED7E-DF8CFCAAA7B7}"/>
              </a:ext>
            </a:extLst>
          </p:cNvPr>
          <p:cNvSpPr>
            <a:spLocks noGrp="1"/>
          </p:cNvSpPr>
          <p:nvPr>
            <p:ph idx="1"/>
          </p:nvPr>
        </p:nvSpPr>
        <p:spPr>
          <a:xfrm>
            <a:off x="704656" y="1638106"/>
            <a:ext cx="10792019" cy="4454719"/>
          </a:xfrm>
        </p:spPr>
        <p:txBody>
          <a:bodyPr>
            <a:noAutofit/>
          </a:bodyPr>
          <a:lstStyle/>
          <a:p>
            <a:pPr marL="0" indent="0">
              <a:spcBef>
                <a:spcPts val="600"/>
              </a:spcBef>
              <a:spcAft>
                <a:spcPts val="600"/>
              </a:spcAft>
              <a:buNone/>
            </a:pPr>
            <a:r>
              <a:rPr lang="en-IN" sz="1800" b="1" dirty="0"/>
              <a:t>What is Hybrid Search?</a:t>
            </a:r>
            <a:endParaRPr lang="en-IN" sz="1800" dirty="0"/>
          </a:p>
          <a:p>
            <a:pPr lvl="1">
              <a:spcBef>
                <a:spcPts val="600"/>
              </a:spcBef>
              <a:spcAft>
                <a:spcPts val="600"/>
              </a:spcAft>
            </a:pPr>
            <a:r>
              <a:rPr lang="en-IN" sz="1800" dirty="0"/>
              <a:t>Combines vector similarity (semantic) with lexical search (BM25/TF-IDF)</a:t>
            </a:r>
          </a:p>
          <a:p>
            <a:pPr marL="0" indent="0">
              <a:spcBef>
                <a:spcPts val="600"/>
              </a:spcBef>
              <a:spcAft>
                <a:spcPts val="600"/>
              </a:spcAft>
              <a:buNone/>
            </a:pPr>
            <a:r>
              <a:rPr lang="en-IN" sz="1800" b="1" dirty="0"/>
              <a:t>Why it's important:</a:t>
            </a:r>
            <a:endParaRPr lang="en-IN" sz="1800" dirty="0"/>
          </a:p>
          <a:p>
            <a:pPr lvl="1">
              <a:spcBef>
                <a:spcPts val="600"/>
              </a:spcBef>
              <a:spcAft>
                <a:spcPts val="600"/>
              </a:spcAft>
            </a:pPr>
            <a:r>
              <a:rPr lang="en-IN" sz="1800" dirty="0"/>
              <a:t>Captures both </a:t>
            </a:r>
            <a:r>
              <a:rPr lang="en-IN" sz="1800" i="1" dirty="0"/>
              <a:t>meaning</a:t>
            </a:r>
            <a:r>
              <a:rPr lang="en-IN" sz="1800" dirty="0"/>
              <a:t> and </a:t>
            </a:r>
            <a:r>
              <a:rPr lang="en-IN" sz="1800" i="1" dirty="0"/>
              <a:t>keyword matching</a:t>
            </a:r>
            <a:endParaRPr lang="en-IN" sz="1800" dirty="0"/>
          </a:p>
          <a:p>
            <a:pPr lvl="1">
              <a:spcBef>
                <a:spcPts val="600"/>
              </a:spcBef>
              <a:spcAft>
                <a:spcPts val="600"/>
              </a:spcAft>
            </a:pPr>
            <a:r>
              <a:rPr lang="en-IN" sz="1800" dirty="0"/>
              <a:t>Improves recall in noisy or mixed-format datasets</a:t>
            </a:r>
          </a:p>
          <a:p>
            <a:pPr marL="0" indent="0">
              <a:spcBef>
                <a:spcPts val="600"/>
              </a:spcBef>
              <a:spcAft>
                <a:spcPts val="600"/>
              </a:spcAft>
              <a:buNone/>
            </a:pPr>
            <a:r>
              <a:rPr lang="en-IN" sz="1800" b="1" dirty="0"/>
              <a:t>Supported by:</a:t>
            </a:r>
            <a:endParaRPr lang="en-IN" sz="1800" dirty="0"/>
          </a:p>
          <a:p>
            <a:pPr lvl="1">
              <a:spcBef>
                <a:spcPts val="600"/>
              </a:spcBef>
              <a:spcAft>
                <a:spcPts val="600"/>
              </a:spcAft>
            </a:pPr>
            <a:r>
              <a:rPr lang="en-IN" sz="1800" dirty="0"/>
              <a:t>✅ </a:t>
            </a:r>
            <a:r>
              <a:rPr lang="en-IN" sz="1800" dirty="0" err="1"/>
              <a:t>Weaviate</a:t>
            </a:r>
            <a:endParaRPr lang="en-IN" sz="1800" dirty="0"/>
          </a:p>
          <a:p>
            <a:pPr lvl="1">
              <a:spcBef>
                <a:spcPts val="600"/>
              </a:spcBef>
              <a:spcAft>
                <a:spcPts val="600"/>
              </a:spcAft>
            </a:pPr>
            <a:r>
              <a:rPr lang="en-IN" sz="1800" dirty="0"/>
              <a:t>✅ Pinecone (via metadata filtering)</a:t>
            </a:r>
          </a:p>
          <a:p>
            <a:pPr lvl="1">
              <a:spcBef>
                <a:spcPts val="600"/>
              </a:spcBef>
              <a:spcAft>
                <a:spcPts val="600"/>
              </a:spcAft>
            </a:pPr>
            <a:r>
              <a:rPr lang="en-IN" sz="1800" dirty="0"/>
              <a:t>❌ Chroma</a:t>
            </a:r>
          </a:p>
          <a:p>
            <a:pPr marL="0" indent="0">
              <a:spcBef>
                <a:spcPts val="600"/>
              </a:spcBef>
              <a:spcAft>
                <a:spcPts val="600"/>
              </a:spcAft>
              <a:buNone/>
            </a:pPr>
            <a:r>
              <a:rPr lang="en-IN" sz="1800" b="1" dirty="0"/>
              <a:t>Example Use Case:</a:t>
            </a:r>
            <a:br>
              <a:rPr lang="en-IN" sz="1800" dirty="0"/>
            </a:br>
            <a:r>
              <a:rPr lang="en-IN" sz="1800" dirty="0"/>
              <a:t>"Search for 'solar panels' → retrieves docs with synonym 'photovoltaics' and exact keyword match 'solar'"</a:t>
            </a:r>
          </a:p>
        </p:txBody>
      </p:sp>
    </p:spTree>
    <p:extLst>
      <p:ext uri="{BB962C8B-B14F-4D97-AF65-F5344CB8AC3E}">
        <p14:creationId xmlns:p14="http://schemas.microsoft.com/office/powerpoint/2010/main" val="2306457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695324" y="1628775"/>
            <a:ext cx="10801351" cy="44640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br>
              <a:rPr lang="en-US" sz="6600" b="1" dirty="0">
                <a:latin typeface="Calibri" panose="020F0502020204030204" pitchFamily="34" charset="0"/>
              </a:rPr>
            </a:br>
            <a:r>
              <a:rPr lang="en-US" sz="2000" b="1" i="1" dirty="0">
                <a:latin typeface="Calibri" panose="020F0502020204030204" pitchFamily="34" charset="0"/>
              </a:rPr>
              <a:t>(Q&amp;A)</a:t>
            </a:r>
            <a:endParaRPr lang="en-IN" sz="2000" b="1" i="1" dirty="0">
              <a:latin typeface="Calibri" panose="020F0502020204030204" pitchFamily="34" charset="0"/>
            </a:endParaRPr>
          </a:p>
          <a:p>
            <a:pPr algn="ct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7225</TotalTime>
  <Words>378</Words>
  <Application>Microsoft Office PowerPoint</Application>
  <PresentationFormat>Widescreen</PresentationFormat>
  <Paragraphs>88</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BIA Template</vt:lpstr>
      <vt:lpstr>PowerPoint Presentation</vt:lpstr>
      <vt:lpstr>Agenda</vt:lpstr>
      <vt:lpstr>Why Vector Databases Matter</vt:lpstr>
      <vt:lpstr>Weaviate vs Pinecone vs Chroma – Feature Overview</vt:lpstr>
      <vt:lpstr>Deep Dive – Weaviate</vt:lpstr>
      <vt:lpstr>Deep Dive – Pinecone</vt:lpstr>
      <vt:lpstr>Deep Dive – Chroma</vt:lpstr>
      <vt:lpstr>Hybrid Search – Best of Both Worlds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Simon Nadar</cp:lastModifiedBy>
  <cp:revision>2300</cp:revision>
  <dcterms:created xsi:type="dcterms:W3CDTF">2020-12-23T13:36:00Z</dcterms:created>
  <dcterms:modified xsi:type="dcterms:W3CDTF">2025-06-07T08:43:51Z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