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3"/>
  </p:notesMasterIdLst>
  <p:sldIdLst>
    <p:sldId id="256" r:id="rId2"/>
    <p:sldId id="674" r:id="rId3"/>
    <p:sldId id="257" r:id="rId4"/>
    <p:sldId id="258" r:id="rId5"/>
    <p:sldId id="259" r:id="rId6"/>
    <p:sldId id="260" r:id="rId7"/>
    <p:sldId id="262" r:id="rId8"/>
    <p:sldId id="263" r:id="rId9"/>
    <p:sldId id="264" r:id="rId10"/>
    <p:sldId id="265" r:id="rId11"/>
    <p:sldId id="30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orient="horz" pos="346" userDrawn="1">
          <p15:clr>
            <a:srgbClr val="A4A3A4"/>
          </p15:clr>
        </p15:guide>
        <p15:guide id="3" orient="horz" pos="799" userDrawn="1">
          <p15:clr>
            <a:srgbClr val="A4A3A4"/>
          </p15:clr>
        </p15:guide>
        <p15:guide id="4" orient="horz" pos="1026" userDrawn="1">
          <p15:clr>
            <a:srgbClr val="A4A3A4"/>
          </p15:clr>
        </p15:guide>
        <p15:guide id="5" orient="horz" pos="3838" userDrawn="1">
          <p15:clr>
            <a:srgbClr val="A4A3A4"/>
          </p15:clr>
        </p15:guide>
        <p15:guide id="6" pos="72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3447" autoAdjust="0"/>
  </p:normalViewPr>
  <p:slideViewPr>
    <p:cSldViewPr snapToGrid="0">
      <p:cViewPr varScale="1">
        <p:scale>
          <a:sx n="100" d="100"/>
          <a:sy n="100" d="100"/>
        </p:scale>
        <p:origin x="450" y="78"/>
      </p:cViewPr>
      <p:guideLst>
        <p:guide pos="415"/>
        <p:guide orient="horz" pos="346"/>
        <p:guide orient="horz" pos="799"/>
        <p:guide orient="horz" pos="1026"/>
        <p:guide orient="horz" pos="3838"/>
        <p:guide pos="7242"/>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12-06-2025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E12E6B-9C5A-074F-A65D-435E8AEEA129}" type="slidenum">
              <a:rPr lang="en-US" smtClean="0"/>
              <a:t>3</a:t>
            </a:fld>
            <a:endParaRPr lang="en-US"/>
          </a:p>
        </p:txBody>
      </p:sp>
    </p:spTree>
    <p:extLst>
      <p:ext uri="{BB962C8B-B14F-4D97-AF65-F5344CB8AC3E}">
        <p14:creationId xmlns:p14="http://schemas.microsoft.com/office/powerpoint/2010/main" val="12793073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58814" y="1283548"/>
            <a:ext cx="10837862" cy="4464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rgbClr val="FFFFFF"/>
                </a:solidFill>
              </a:rPr>
              <a:t>Vector Search 101</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69553" y="558606"/>
            <a:ext cx="10827122" cy="709807"/>
          </a:xfrm>
        </p:spPr>
        <p:txBody>
          <a:bodyPr/>
          <a:lstStyle/>
          <a:p>
            <a:r>
              <a:rPr lang="en-IN" dirty="0">
                <a:solidFill>
                  <a:srgbClr val="161A3E"/>
                </a:solidFill>
              </a:rPr>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68144" y="1638106"/>
            <a:ext cx="10828531" cy="4454719"/>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IN" sz="2400" dirty="0"/>
              <a:t>Retrieval-Augmented Generation (RAG)</a:t>
            </a:r>
          </a:p>
          <a:p>
            <a:pPr lvl="0"/>
            <a:r>
              <a:rPr lang="en-IN" sz="2400" dirty="0"/>
              <a:t>Embeddings Refresher</a:t>
            </a:r>
          </a:p>
          <a:p>
            <a:pPr lvl="0"/>
            <a:r>
              <a:rPr lang="en-IN" sz="2400" dirty="0"/>
              <a:t>Similarity Metrics</a:t>
            </a:r>
          </a:p>
          <a:p>
            <a:pPr lvl="0"/>
            <a:r>
              <a:rPr lang="en-IN" sz="2400" dirty="0"/>
              <a:t>all-</a:t>
            </a:r>
            <a:r>
              <a:rPr lang="en-IN" sz="2400" dirty="0" err="1"/>
              <a:t>MiniLM</a:t>
            </a:r>
            <a:r>
              <a:rPr lang="en-IN" sz="2400" dirty="0"/>
              <a:t> vs OpenAI Embeddings – Cost &amp; Performance</a:t>
            </a:r>
          </a:p>
          <a:p>
            <a:pPr lvl="0"/>
            <a:r>
              <a:rPr lang="en-IN" sz="2400" dirty="0"/>
              <a:t>Building a FAISS Index (Facebook AI Similarity Search)</a:t>
            </a:r>
          </a:p>
          <a:p>
            <a:pPr lvl="0"/>
            <a:r>
              <a:rPr lang="en-IN" sz="2400" dirty="0"/>
              <a:t>RAG System Pipeline</a:t>
            </a:r>
          </a:p>
          <a:p>
            <a:pPr lvl="0"/>
            <a:r>
              <a:rPr lang="en-IN" sz="2400" dirty="0"/>
              <a:t>Multimodal Systems Overview</a:t>
            </a:r>
          </a:p>
          <a:p>
            <a:pPr lvl="0"/>
            <a:r>
              <a:rPr lang="en-IN" sz="2400" dirty="0"/>
              <a:t>Summary</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488C-2566-2AE7-0B21-AED1AF7490A2}"/>
              </a:ext>
            </a:extLst>
          </p:cNvPr>
          <p:cNvSpPr>
            <a:spLocks noGrp="1"/>
          </p:cNvSpPr>
          <p:nvPr>
            <p:ph type="title"/>
          </p:nvPr>
        </p:nvSpPr>
        <p:spPr>
          <a:xfrm>
            <a:off x="668144" y="558606"/>
            <a:ext cx="10817791" cy="709807"/>
          </a:xfrm>
        </p:spPr>
        <p:txBody>
          <a:bodyPr/>
          <a:lstStyle/>
          <a:p>
            <a:r>
              <a:rPr lang="en-IN" dirty="0"/>
              <a:t>What is Retrieval-Augmented Generation (RAG)?</a:t>
            </a:r>
            <a:endParaRPr lang="en-US" dirty="0"/>
          </a:p>
        </p:txBody>
      </p:sp>
      <p:sp>
        <p:nvSpPr>
          <p:cNvPr id="3" name="Content Placeholder 2">
            <a:extLst>
              <a:ext uri="{FF2B5EF4-FFF2-40B4-BE49-F238E27FC236}">
                <a16:creationId xmlns:a16="http://schemas.microsoft.com/office/drawing/2014/main" id="{C1717546-CB4A-183F-F30F-F70B3605FF84}"/>
              </a:ext>
            </a:extLst>
          </p:cNvPr>
          <p:cNvSpPr>
            <a:spLocks noGrp="1"/>
          </p:cNvSpPr>
          <p:nvPr>
            <p:ph idx="1"/>
          </p:nvPr>
        </p:nvSpPr>
        <p:spPr>
          <a:xfrm>
            <a:off x="669553" y="1638106"/>
            <a:ext cx="10827122" cy="4454719"/>
          </a:xfrm>
        </p:spPr>
        <p:txBody>
          <a:bodyPr/>
          <a:lstStyle/>
          <a:p>
            <a:pPr marL="0" indent="0">
              <a:spcBef>
                <a:spcPts val="600"/>
              </a:spcBef>
              <a:spcAft>
                <a:spcPts val="600"/>
              </a:spcAft>
              <a:buNone/>
            </a:pPr>
            <a:r>
              <a:rPr lang="en-IN" sz="2400" b="1" dirty="0"/>
              <a:t>Definition:</a:t>
            </a:r>
            <a:r>
              <a:rPr lang="en-IN" sz="2400" dirty="0"/>
              <a:t> A hybrid approach combining retrieval and generation. Enhances language models with external knowledge retrieval.</a:t>
            </a:r>
          </a:p>
          <a:p>
            <a:pPr marL="0" indent="0">
              <a:spcBef>
                <a:spcPts val="600"/>
              </a:spcBef>
              <a:spcAft>
                <a:spcPts val="600"/>
              </a:spcAft>
              <a:buNone/>
            </a:pPr>
            <a:r>
              <a:rPr lang="en-IN" sz="2400" b="1" dirty="0"/>
              <a:t>Architecture:</a:t>
            </a:r>
            <a:endParaRPr lang="en-IN" sz="2400" dirty="0"/>
          </a:p>
          <a:p>
            <a:pPr lvl="1">
              <a:spcBef>
                <a:spcPts val="600"/>
              </a:spcBef>
              <a:spcAft>
                <a:spcPts val="600"/>
              </a:spcAft>
            </a:pPr>
            <a:r>
              <a:rPr lang="en-IN" i="1" dirty="0"/>
              <a:t>Query input → Embedding → Retrieve from a knowledge base → Feed context to a generative model</a:t>
            </a:r>
          </a:p>
          <a:p>
            <a:pPr marL="0" indent="0">
              <a:spcBef>
                <a:spcPts val="600"/>
              </a:spcBef>
              <a:spcAft>
                <a:spcPts val="600"/>
              </a:spcAft>
              <a:buNone/>
            </a:pPr>
            <a:r>
              <a:rPr lang="en-IN" sz="2400" b="1" dirty="0"/>
              <a:t>Use Cases:</a:t>
            </a:r>
            <a:r>
              <a:rPr lang="en-IN" sz="2400" dirty="0"/>
              <a:t> Chatbots, Q&amp;A systems, document search, customer support</a:t>
            </a:r>
          </a:p>
        </p:txBody>
      </p:sp>
    </p:spTree>
    <p:extLst>
      <p:ext uri="{BB962C8B-B14F-4D97-AF65-F5344CB8AC3E}">
        <p14:creationId xmlns:p14="http://schemas.microsoft.com/office/powerpoint/2010/main" val="18752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11DAE-15CD-B4FF-F761-34D09792DB73}"/>
              </a:ext>
            </a:extLst>
          </p:cNvPr>
          <p:cNvSpPr>
            <a:spLocks noGrp="1"/>
          </p:cNvSpPr>
          <p:nvPr>
            <p:ph type="title"/>
          </p:nvPr>
        </p:nvSpPr>
        <p:spPr>
          <a:xfrm>
            <a:off x="669553" y="558606"/>
            <a:ext cx="10817791" cy="709807"/>
          </a:xfrm>
        </p:spPr>
        <p:txBody>
          <a:bodyPr/>
          <a:lstStyle/>
          <a:p>
            <a:r>
              <a:rPr lang="en-IN" dirty="0"/>
              <a:t>Embeddings Refresher</a:t>
            </a:r>
            <a:endParaRPr lang="en-US" dirty="0"/>
          </a:p>
        </p:txBody>
      </p:sp>
      <p:sp>
        <p:nvSpPr>
          <p:cNvPr id="3" name="Content Placeholder 2">
            <a:extLst>
              <a:ext uri="{FF2B5EF4-FFF2-40B4-BE49-F238E27FC236}">
                <a16:creationId xmlns:a16="http://schemas.microsoft.com/office/drawing/2014/main" id="{FF099110-F371-076D-95F9-5E12AB5224D9}"/>
              </a:ext>
            </a:extLst>
          </p:cNvPr>
          <p:cNvSpPr>
            <a:spLocks noGrp="1"/>
          </p:cNvSpPr>
          <p:nvPr>
            <p:ph idx="1"/>
          </p:nvPr>
        </p:nvSpPr>
        <p:spPr>
          <a:xfrm>
            <a:off x="658813" y="1628775"/>
            <a:ext cx="10837863" cy="4464050"/>
          </a:xfrm>
        </p:spPr>
        <p:txBody>
          <a:bodyPr>
            <a:normAutofit/>
          </a:bodyPr>
          <a:lstStyle/>
          <a:p>
            <a:pPr marL="0" indent="0">
              <a:spcBef>
                <a:spcPts val="600"/>
              </a:spcBef>
              <a:spcAft>
                <a:spcPts val="600"/>
              </a:spcAft>
              <a:buNone/>
            </a:pPr>
            <a:r>
              <a:rPr lang="en-IN" sz="2400" b="1" dirty="0"/>
              <a:t>What are embeddings?</a:t>
            </a:r>
            <a:endParaRPr lang="en-IN" sz="2400" dirty="0"/>
          </a:p>
          <a:p>
            <a:pPr lvl="1">
              <a:spcBef>
                <a:spcPts val="600"/>
              </a:spcBef>
              <a:spcAft>
                <a:spcPts val="600"/>
              </a:spcAft>
            </a:pPr>
            <a:r>
              <a:rPr lang="en-IN" dirty="0"/>
              <a:t>Dense vector representations of text, mapping similar meanings close together in vector space.</a:t>
            </a:r>
          </a:p>
          <a:p>
            <a:pPr marL="0" indent="0">
              <a:spcBef>
                <a:spcPts val="600"/>
              </a:spcBef>
              <a:spcAft>
                <a:spcPts val="600"/>
              </a:spcAft>
              <a:buNone/>
            </a:pPr>
            <a:r>
              <a:rPr lang="en-IN" sz="2400" b="1" dirty="0"/>
              <a:t>How they’re generated:</a:t>
            </a:r>
            <a:endParaRPr lang="en-IN" sz="2400" dirty="0"/>
          </a:p>
          <a:p>
            <a:pPr lvl="1">
              <a:spcBef>
                <a:spcPts val="600"/>
              </a:spcBef>
              <a:spcAft>
                <a:spcPts val="600"/>
              </a:spcAft>
            </a:pPr>
            <a:r>
              <a:rPr lang="en-IN" dirty="0"/>
              <a:t>Via models like BERT, </a:t>
            </a:r>
            <a:r>
              <a:rPr lang="en-IN" dirty="0" err="1"/>
              <a:t>MiniLM</a:t>
            </a:r>
            <a:r>
              <a:rPr lang="en-IN" dirty="0"/>
              <a:t>, OpenAI's embedding models</a:t>
            </a:r>
          </a:p>
          <a:p>
            <a:pPr marL="0" indent="0">
              <a:spcBef>
                <a:spcPts val="600"/>
              </a:spcBef>
              <a:spcAft>
                <a:spcPts val="600"/>
              </a:spcAft>
              <a:buNone/>
            </a:pPr>
            <a:r>
              <a:rPr lang="en-IN" sz="2400" b="1" dirty="0"/>
              <a:t>Example:</a:t>
            </a:r>
            <a:endParaRPr lang="en-IN" sz="2400" dirty="0"/>
          </a:p>
          <a:p>
            <a:pPr lvl="1">
              <a:spcBef>
                <a:spcPts val="600"/>
              </a:spcBef>
              <a:spcAft>
                <a:spcPts val="600"/>
              </a:spcAft>
            </a:pPr>
            <a:r>
              <a:rPr lang="en-IN" dirty="0"/>
              <a:t>‘cat’ → [0.12, -0.34, ...] | ‘dog’ → close vector</a:t>
            </a:r>
          </a:p>
        </p:txBody>
      </p:sp>
    </p:spTree>
    <p:extLst>
      <p:ext uri="{BB962C8B-B14F-4D97-AF65-F5344CB8AC3E}">
        <p14:creationId xmlns:p14="http://schemas.microsoft.com/office/powerpoint/2010/main" val="1775770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9DD4E-632D-9E88-BCA7-A7FA0FE5854C}"/>
              </a:ext>
            </a:extLst>
          </p:cNvPr>
          <p:cNvSpPr>
            <a:spLocks noGrp="1"/>
          </p:cNvSpPr>
          <p:nvPr>
            <p:ph type="title"/>
          </p:nvPr>
        </p:nvSpPr>
        <p:spPr>
          <a:xfrm>
            <a:off x="668144" y="558606"/>
            <a:ext cx="10837862" cy="709807"/>
          </a:xfrm>
        </p:spPr>
        <p:txBody>
          <a:bodyPr anchor="b">
            <a:normAutofit/>
          </a:bodyPr>
          <a:lstStyle/>
          <a:p>
            <a:r>
              <a:rPr lang="en-IN" dirty="0"/>
              <a:t>Similarity Metrics</a:t>
            </a:r>
            <a:endParaRPr lang="en-US" dirty="0"/>
          </a:p>
        </p:txBody>
      </p:sp>
      <p:sp>
        <p:nvSpPr>
          <p:cNvPr id="3" name="Content Placeholder 2">
            <a:extLst>
              <a:ext uri="{FF2B5EF4-FFF2-40B4-BE49-F238E27FC236}">
                <a16:creationId xmlns:a16="http://schemas.microsoft.com/office/drawing/2014/main" id="{2937191D-5C37-C056-F9D1-CBEF551DB36F}"/>
              </a:ext>
            </a:extLst>
          </p:cNvPr>
          <p:cNvSpPr>
            <a:spLocks noGrp="1"/>
          </p:cNvSpPr>
          <p:nvPr>
            <p:ph idx="1"/>
          </p:nvPr>
        </p:nvSpPr>
        <p:spPr>
          <a:xfrm>
            <a:off x="668144" y="1638106"/>
            <a:ext cx="5427855" cy="4454719"/>
          </a:xfrm>
        </p:spPr>
        <p:txBody>
          <a:bodyPr>
            <a:normAutofit fontScale="92500" lnSpcReduction="10000"/>
          </a:bodyPr>
          <a:lstStyle/>
          <a:p>
            <a:pPr marL="0" indent="0">
              <a:lnSpc>
                <a:spcPct val="110000"/>
              </a:lnSpc>
              <a:buNone/>
            </a:pPr>
            <a:r>
              <a:rPr lang="en-IN" sz="2400" b="1" dirty="0"/>
              <a:t>Cosine Similarity:</a:t>
            </a:r>
            <a:endParaRPr lang="en-IN" sz="2400" dirty="0"/>
          </a:p>
          <a:p>
            <a:pPr lvl="1">
              <a:lnSpc>
                <a:spcPct val="110000"/>
              </a:lnSpc>
            </a:pPr>
            <a:r>
              <a:rPr lang="en-IN" dirty="0"/>
              <a:t>Measures angle between vectors (most common)</a:t>
            </a:r>
          </a:p>
          <a:p>
            <a:pPr lvl="1">
              <a:lnSpc>
                <a:spcPct val="110000"/>
              </a:lnSpc>
            </a:pPr>
            <a:r>
              <a:rPr lang="en-IN" dirty="0"/>
              <a:t>Value range: -1 (opposite) to 1 (identical)</a:t>
            </a:r>
          </a:p>
          <a:p>
            <a:pPr marL="0" indent="0">
              <a:lnSpc>
                <a:spcPct val="110000"/>
              </a:lnSpc>
              <a:buNone/>
            </a:pPr>
            <a:r>
              <a:rPr lang="en-IN" sz="2400" b="1" dirty="0"/>
              <a:t>Dot Product:</a:t>
            </a:r>
            <a:endParaRPr lang="en-IN" sz="2400" dirty="0"/>
          </a:p>
          <a:p>
            <a:pPr lvl="1">
              <a:lnSpc>
                <a:spcPct val="110000"/>
              </a:lnSpc>
            </a:pPr>
            <a:r>
              <a:rPr lang="en-IN" dirty="0"/>
              <a:t>Efficient, often used when vectors are normalized</a:t>
            </a:r>
          </a:p>
          <a:p>
            <a:pPr marL="0" indent="0">
              <a:lnSpc>
                <a:spcPct val="110000"/>
              </a:lnSpc>
              <a:buNone/>
            </a:pPr>
            <a:r>
              <a:rPr lang="en-IN" sz="2400" b="1" dirty="0"/>
              <a:t>Euclidean Distance:</a:t>
            </a:r>
            <a:endParaRPr lang="en-IN" sz="2400" dirty="0"/>
          </a:p>
          <a:p>
            <a:pPr lvl="1">
              <a:lnSpc>
                <a:spcPct val="110000"/>
              </a:lnSpc>
            </a:pPr>
            <a:r>
              <a:rPr lang="en-IN" dirty="0"/>
              <a:t>Not commonly used for high-dimensional vectors</a:t>
            </a:r>
          </a:p>
          <a:p>
            <a:pPr lvl="1">
              <a:lnSpc>
                <a:spcPct val="110000"/>
              </a:lnSpc>
            </a:pPr>
            <a:endParaRPr lang="en-IN" sz="1500" dirty="0"/>
          </a:p>
          <a:p>
            <a:pPr>
              <a:lnSpc>
                <a:spcPct val="110000"/>
              </a:lnSpc>
            </a:pPr>
            <a:endParaRPr lang="en-US" sz="1500" dirty="0"/>
          </a:p>
        </p:txBody>
      </p:sp>
      <p:graphicFrame>
        <p:nvGraphicFramePr>
          <p:cNvPr id="4" name="Table 3">
            <a:extLst>
              <a:ext uri="{FF2B5EF4-FFF2-40B4-BE49-F238E27FC236}">
                <a16:creationId xmlns:a16="http://schemas.microsoft.com/office/drawing/2014/main" id="{933BC89F-BAD8-B764-F273-D6234DC73E28}"/>
              </a:ext>
            </a:extLst>
          </p:cNvPr>
          <p:cNvGraphicFramePr>
            <a:graphicFrameLocks noGrp="1"/>
          </p:cNvGraphicFramePr>
          <p:nvPr>
            <p:extLst>
              <p:ext uri="{D42A27DB-BD31-4B8C-83A1-F6EECF244321}">
                <p14:modId xmlns:p14="http://schemas.microsoft.com/office/powerpoint/2010/main" val="735600893"/>
              </p:ext>
            </p:extLst>
          </p:nvPr>
        </p:nvGraphicFramePr>
        <p:xfrm>
          <a:off x="6095999" y="1628775"/>
          <a:ext cx="5400676" cy="4464050"/>
        </p:xfrm>
        <a:graphic>
          <a:graphicData uri="http://schemas.openxmlformats.org/drawingml/2006/table">
            <a:tbl>
              <a:tblPr>
                <a:solidFill>
                  <a:schemeClr val="tx1">
                    <a:lumMod val="75000"/>
                    <a:lumOff val="25000"/>
                  </a:schemeClr>
                </a:solidFill>
              </a:tblPr>
              <a:tblGrid>
                <a:gridCol w="1442015">
                  <a:extLst>
                    <a:ext uri="{9D8B030D-6E8A-4147-A177-3AD203B41FA5}">
                      <a16:colId xmlns:a16="http://schemas.microsoft.com/office/drawing/2014/main" val="1098162107"/>
                    </a:ext>
                  </a:extLst>
                </a:gridCol>
                <a:gridCol w="2401879">
                  <a:extLst>
                    <a:ext uri="{9D8B030D-6E8A-4147-A177-3AD203B41FA5}">
                      <a16:colId xmlns:a16="http://schemas.microsoft.com/office/drawing/2014/main" val="2074785443"/>
                    </a:ext>
                  </a:extLst>
                </a:gridCol>
                <a:gridCol w="1556782">
                  <a:extLst>
                    <a:ext uri="{9D8B030D-6E8A-4147-A177-3AD203B41FA5}">
                      <a16:colId xmlns:a16="http://schemas.microsoft.com/office/drawing/2014/main" val="877378221"/>
                    </a:ext>
                  </a:extLst>
                </a:gridCol>
              </a:tblGrid>
              <a:tr h="629903">
                <a:tc>
                  <a:txBody>
                    <a:bodyPr/>
                    <a:lstStyle/>
                    <a:p>
                      <a:r>
                        <a:rPr lang="en-IN" sz="1800" b="1" cap="none" spc="0" dirty="0">
                          <a:solidFill>
                            <a:schemeClr val="tx1"/>
                          </a:solidFill>
                        </a:rPr>
                        <a:t>Metric</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b="1" cap="none" spc="0" dirty="0">
                          <a:solidFill>
                            <a:schemeClr val="tx1"/>
                          </a:solidFill>
                        </a:rPr>
                        <a:t>Formula</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1800" b="1" cap="none" spc="0" dirty="0">
                          <a:solidFill>
                            <a:schemeClr val="tx1"/>
                          </a:solidFill>
                        </a:rPr>
                        <a:t>Use Case</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761328336"/>
                  </a:ext>
                </a:extLst>
              </a:tr>
              <a:tr h="969934">
                <a:tc>
                  <a:txBody>
                    <a:bodyPr/>
                    <a:lstStyle/>
                    <a:p>
                      <a:r>
                        <a:rPr lang="en-IN" sz="1800" cap="none" spc="0" dirty="0">
                          <a:solidFill>
                            <a:schemeClr val="tx1"/>
                          </a:solidFill>
                        </a:rPr>
                        <a:t>Cosine Similarity</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i="1" cap="none" spc="0" dirty="0">
                          <a:solidFill>
                            <a:schemeClr val="tx1"/>
                          </a:solidFill>
                        </a:rPr>
                        <a:t>( \cos(\theta) = \frac{A \</a:t>
                      </a:r>
                      <a:r>
                        <a:rPr lang="en-IN" sz="1800" i="1" cap="none" spc="0" dirty="0" err="1">
                          <a:solidFill>
                            <a:schemeClr val="tx1"/>
                          </a:solidFill>
                        </a:rPr>
                        <a:t>cdot</a:t>
                      </a:r>
                      <a:r>
                        <a:rPr lang="en-IN" sz="1800" i="1" cap="none" spc="0" dirty="0">
                          <a:solidFill>
                            <a:schemeClr val="tx1"/>
                          </a:solidFill>
                        </a:rPr>
                        <a:t> B}{</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cap="none" spc="0" dirty="0">
                        <a:solidFill>
                          <a:schemeClr val="tx1"/>
                        </a:solidFill>
                      </a:endParaRP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5710740"/>
                  </a:ext>
                </a:extLst>
              </a:tr>
              <a:tr h="1894279">
                <a:tc>
                  <a:txBody>
                    <a:bodyPr/>
                    <a:lstStyle/>
                    <a:p>
                      <a:r>
                        <a:rPr lang="en-IN" sz="1800" cap="none" spc="0" dirty="0">
                          <a:solidFill>
                            <a:schemeClr val="tx1"/>
                          </a:solidFill>
                        </a:rPr>
                        <a:t>Dot Product</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dirty="0">
                          <a:solidFill>
                            <a:schemeClr val="tx1"/>
                          </a:solidFill>
                        </a:rPr>
                        <a:t>A⋅BA \</a:t>
                      </a:r>
                      <a:r>
                        <a:rPr lang="en-IN" sz="1800" cap="none" spc="0" dirty="0" err="1">
                          <a:solidFill>
                            <a:schemeClr val="tx1"/>
                          </a:solidFill>
                        </a:rPr>
                        <a:t>cdot</a:t>
                      </a:r>
                      <a:r>
                        <a:rPr lang="en-IN" sz="1800" cap="none" spc="0" dirty="0">
                          <a:solidFill>
                            <a:schemeClr val="tx1"/>
                          </a:solidFill>
                        </a:rPr>
                        <a:t> B</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dirty="0">
                          <a:solidFill>
                            <a:schemeClr val="tx1"/>
                          </a:solidFill>
                        </a:rPr>
                        <a:t>Fast similarity (with normalized vectors)</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809006"/>
                  </a:ext>
                </a:extLst>
              </a:tr>
              <a:tr h="969934">
                <a:tc>
                  <a:txBody>
                    <a:bodyPr/>
                    <a:lstStyle/>
                    <a:p>
                      <a:r>
                        <a:rPr lang="en-IN" sz="1800" cap="none" spc="0" dirty="0">
                          <a:solidFill>
                            <a:schemeClr val="tx1"/>
                          </a:solidFill>
                        </a:rPr>
                        <a:t>Euclidean Distance</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i="1" cap="none" spc="0" dirty="0">
                          <a:solidFill>
                            <a:schemeClr val="tx1"/>
                          </a:solidFill>
                        </a:rPr>
                        <a:t>∑(ai−bi)2\sqrt{\sum (</a:t>
                      </a:r>
                      <a:r>
                        <a:rPr lang="en-IN" sz="1800" i="1" cap="none" spc="0" dirty="0" err="1">
                          <a:solidFill>
                            <a:schemeClr val="tx1"/>
                          </a:solidFill>
                        </a:rPr>
                        <a:t>a_i</a:t>
                      </a:r>
                      <a:r>
                        <a:rPr lang="en-IN" sz="1800" i="1" cap="none" spc="0" dirty="0">
                          <a:solidFill>
                            <a:schemeClr val="tx1"/>
                          </a:solidFill>
                        </a:rPr>
                        <a:t> - </a:t>
                      </a:r>
                      <a:r>
                        <a:rPr lang="en-IN" sz="1800" i="1" cap="none" spc="0" dirty="0" err="1">
                          <a:solidFill>
                            <a:schemeClr val="tx1"/>
                          </a:solidFill>
                        </a:rPr>
                        <a:t>b_i</a:t>
                      </a:r>
                      <a:r>
                        <a:rPr lang="en-IN" sz="1800" i="1" cap="none" spc="0" dirty="0">
                          <a:solidFill>
                            <a:schemeClr val="tx1"/>
                          </a:solidFill>
                        </a:rPr>
                        <a:t>)^2}</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cap="none" spc="0" dirty="0">
                          <a:solidFill>
                            <a:schemeClr val="tx1"/>
                          </a:solidFill>
                        </a:rPr>
                        <a:t>Clustering</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7517197"/>
                  </a:ext>
                </a:extLst>
              </a:tr>
            </a:tbl>
          </a:graphicData>
        </a:graphic>
      </p:graphicFrame>
    </p:spTree>
    <p:extLst>
      <p:ext uri="{BB962C8B-B14F-4D97-AF65-F5344CB8AC3E}">
        <p14:creationId xmlns:p14="http://schemas.microsoft.com/office/powerpoint/2010/main" val="381663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0E64-865F-6984-1F3D-E64C3179B712}"/>
              </a:ext>
            </a:extLst>
          </p:cNvPr>
          <p:cNvSpPr>
            <a:spLocks noGrp="1"/>
          </p:cNvSpPr>
          <p:nvPr>
            <p:ph type="title"/>
          </p:nvPr>
        </p:nvSpPr>
        <p:spPr>
          <a:xfrm>
            <a:off x="668144" y="558608"/>
            <a:ext cx="10828531" cy="709806"/>
          </a:xfrm>
        </p:spPr>
        <p:txBody>
          <a:bodyPr/>
          <a:lstStyle/>
          <a:p>
            <a:r>
              <a:rPr lang="en-IN" dirty="0"/>
              <a:t>all-</a:t>
            </a:r>
            <a:r>
              <a:rPr lang="en-IN" dirty="0" err="1"/>
              <a:t>MiniLM</a:t>
            </a:r>
            <a:r>
              <a:rPr lang="en-IN" dirty="0"/>
              <a:t> vs OpenAI Embeddings – Cost &amp; Performance</a:t>
            </a:r>
            <a:endParaRPr lang="en-US" dirty="0"/>
          </a:p>
        </p:txBody>
      </p:sp>
      <p:sp>
        <p:nvSpPr>
          <p:cNvPr id="3" name="Content Placeholder 2">
            <a:extLst>
              <a:ext uri="{FF2B5EF4-FFF2-40B4-BE49-F238E27FC236}">
                <a16:creationId xmlns:a16="http://schemas.microsoft.com/office/drawing/2014/main" id="{1338F980-79B7-B27C-3FB5-FB44ADABCA72}"/>
              </a:ext>
            </a:extLst>
          </p:cNvPr>
          <p:cNvSpPr>
            <a:spLocks noGrp="1"/>
          </p:cNvSpPr>
          <p:nvPr>
            <p:ph idx="1"/>
          </p:nvPr>
        </p:nvSpPr>
        <p:spPr>
          <a:xfrm>
            <a:off x="678885" y="1628775"/>
            <a:ext cx="5417116" cy="4464050"/>
          </a:xfrm>
        </p:spPr>
        <p:txBody>
          <a:bodyPr>
            <a:normAutofit/>
          </a:bodyPr>
          <a:lstStyle/>
          <a:p>
            <a:pPr marL="0" indent="0">
              <a:spcBef>
                <a:spcPts val="600"/>
              </a:spcBef>
              <a:spcAft>
                <a:spcPts val="600"/>
              </a:spcAft>
              <a:buNone/>
            </a:pPr>
            <a:r>
              <a:rPr lang="en-IN" sz="2000" b="1" dirty="0"/>
              <a:t>all-</a:t>
            </a:r>
            <a:r>
              <a:rPr lang="en-IN" sz="2000" b="1" dirty="0" err="1"/>
              <a:t>MiniLM</a:t>
            </a:r>
            <a:r>
              <a:rPr lang="en-IN" sz="2000" b="1" dirty="0"/>
              <a:t> (e.g., all-MiniLM-L6-v2):</a:t>
            </a:r>
          </a:p>
          <a:p>
            <a:pPr lvl="1">
              <a:spcBef>
                <a:spcPts val="600"/>
              </a:spcBef>
              <a:spcAft>
                <a:spcPts val="600"/>
              </a:spcAft>
            </a:pPr>
            <a:r>
              <a:rPr lang="en-IN" sz="2000" b="1" dirty="0"/>
              <a:t>Open-source</a:t>
            </a:r>
            <a:r>
              <a:rPr lang="en-IN" sz="2000" dirty="0"/>
              <a:t>, fast, small model (~22M parameters)</a:t>
            </a:r>
          </a:p>
          <a:p>
            <a:pPr lvl="1">
              <a:spcBef>
                <a:spcPts val="600"/>
              </a:spcBef>
              <a:spcAft>
                <a:spcPts val="600"/>
              </a:spcAft>
            </a:pPr>
            <a:r>
              <a:rPr lang="en-IN" sz="2000" b="1" dirty="0"/>
              <a:t>Inference Cost:</a:t>
            </a:r>
            <a:r>
              <a:rPr lang="en-IN" sz="2000" dirty="0"/>
              <a:t> Free, local</a:t>
            </a:r>
          </a:p>
          <a:p>
            <a:pPr lvl="1">
              <a:spcBef>
                <a:spcPts val="600"/>
              </a:spcBef>
              <a:spcAft>
                <a:spcPts val="600"/>
              </a:spcAft>
            </a:pPr>
            <a:r>
              <a:rPr lang="en-IN" sz="2000" b="1" dirty="0"/>
              <a:t>Performance:</a:t>
            </a:r>
            <a:r>
              <a:rPr lang="en-IN" sz="2000" dirty="0"/>
              <a:t> Good semantic similarity, average for complex reasoning</a:t>
            </a:r>
          </a:p>
          <a:p>
            <a:pPr marL="0" indent="0">
              <a:spcBef>
                <a:spcPts val="600"/>
              </a:spcBef>
              <a:spcAft>
                <a:spcPts val="600"/>
              </a:spcAft>
              <a:buNone/>
            </a:pPr>
            <a:r>
              <a:rPr lang="en-IN" sz="2000" b="1" dirty="0"/>
              <a:t>OpenAI Embeddings (e.g., text-embedding-3-small):</a:t>
            </a:r>
          </a:p>
          <a:p>
            <a:pPr lvl="1">
              <a:spcBef>
                <a:spcPts val="600"/>
              </a:spcBef>
              <a:spcAft>
                <a:spcPts val="600"/>
              </a:spcAft>
            </a:pPr>
            <a:r>
              <a:rPr lang="en-IN" sz="2000" b="1" dirty="0"/>
              <a:t>Hosted</a:t>
            </a:r>
            <a:r>
              <a:rPr lang="en-IN" sz="2000" dirty="0"/>
              <a:t>, larger models</a:t>
            </a:r>
          </a:p>
          <a:p>
            <a:pPr lvl="1">
              <a:spcBef>
                <a:spcPts val="600"/>
              </a:spcBef>
              <a:spcAft>
                <a:spcPts val="600"/>
              </a:spcAft>
            </a:pPr>
            <a:r>
              <a:rPr lang="en-IN" sz="2000" b="1" dirty="0"/>
              <a:t>Cost:</a:t>
            </a:r>
            <a:r>
              <a:rPr lang="en-IN" sz="2000" dirty="0"/>
              <a:t> ~$0.0001 per 1K tokens</a:t>
            </a:r>
          </a:p>
          <a:p>
            <a:pPr lvl="1">
              <a:spcBef>
                <a:spcPts val="600"/>
              </a:spcBef>
              <a:spcAft>
                <a:spcPts val="600"/>
              </a:spcAft>
            </a:pPr>
            <a:r>
              <a:rPr lang="en-IN" sz="2000" b="1" dirty="0"/>
              <a:t>Performance:</a:t>
            </a:r>
            <a:r>
              <a:rPr lang="en-IN" sz="2000" dirty="0"/>
              <a:t> Higher accuracy, better zero-shot generalization</a:t>
            </a:r>
          </a:p>
        </p:txBody>
      </p:sp>
      <p:graphicFrame>
        <p:nvGraphicFramePr>
          <p:cNvPr id="4" name="Table 3">
            <a:extLst>
              <a:ext uri="{FF2B5EF4-FFF2-40B4-BE49-F238E27FC236}">
                <a16:creationId xmlns:a16="http://schemas.microsoft.com/office/drawing/2014/main" id="{EF9A89C8-696E-E819-0DD9-9573B6CABABC}"/>
              </a:ext>
            </a:extLst>
          </p:cNvPr>
          <p:cNvGraphicFramePr>
            <a:graphicFrameLocks noGrp="1"/>
          </p:cNvGraphicFramePr>
          <p:nvPr>
            <p:extLst>
              <p:ext uri="{D42A27DB-BD31-4B8C-83A1-F6EECF244321}">
                <p14:modId xmlns:p14="http://schemas.microsoft.com/office/powerpoint/2010/main" val="124577030"/>
              </p:ext>
            </p:extLst>
          </p:nvPr>
        </p:nvGraphicFramePr>
        <p:xfrm>
          <a:off x="6095999" y="1628775"/>
          <a:ext cx="5400676" cy="4464049"/>
        </p:xfrm>
        <a:graphic>
          <a:graphicData uri="http://schemas.openxmlformats.org/drawingml/2006/table">
            <a:tbl>
              <a:tblPr>
                <a:solidFill>
                  <a:schemeClr val="tx1">
                    <a:lumMod val="75000"/>
                    <a:lumOff val="25000"/>
                  </a:schemeClr>
                </a:solidFill>
              </a:tblPr>
              <a:tblGrid>
                <a:gridCol w="1645921">
                  <a:extLst>
                    <a:ext uri="{9D8B030D-6E8A-4147-A177-3AD203B41FA5}">
                      <a16:colId xmlns:a16="http://schemas.microsoft.com/office/drawing/2014/main" val="1098162107"/>
                    </a:ext>
                  </a:extLst>
                </a:gridCol>
                <a:gridCol w="1930400">
                  <a:extLst>
                    <a:ext uri="{9D8B030D-6E8A-4147-A177-3AD203B41FA5}">
                      <a16:colId xmlns:a16="http://schemas.microsoft.com/office/drawing/2014/main" val="2074785443"/>
                    </a:ext>
                  </a:extLst>
                </a:gridCol>
                <a:gridCol w="1824355">
                  <a:extLst>
                    <a:ext uri="{9D8B030D-6E8A-4147-A177-3AD203B41FA5}">
                      <a16:colId xmlns:a16="http://schemas.microsoft.com/office/drawing/2014/main" val="877378221"/>
                    </a:ext>
                  </a:extLst>
                </a:gridCol>
              </a:tblGrid>
              <a:tr h="967601">
                <a:tc>
                  <a:txBody>
                    <a:bodyPr/>
                    <a:lstStyle/>
                    <a:p>
                      <a:r>
                        <a:rPr lang="en-IN" sz="2000" b="1" cap="none" spc="0" dirty="0">
                          <a:solidFill>
                            <a:schemeClr val="tx1"/>
                          </a:solidFill>
                        </a:rPr>
                        <a:t>Feature</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dirty="0">
                          <a:solidFill>
                            <a:schemeClr val="tx1"/>
                          </a:solidFill>
                        </a:rPr>
                        <a:t>all-</a:t>
                      </a:r>
                      <a:r>
                        <a:rPr lang="en-IN" sz="2000" b="1" cap="none" spc="0" dirty="0" err="1">
                          <a:solidFill>
                            <a:schemeClr val="tx1"/>
                          </a:solidFill>
                        </a:rPr>
                        <a:t>MiniLM</a:t>
                      </a:r>
                      <a:endParaRPr lang="en-IN" sz="2000" b="1" cap="none" spc="0" dirty="0">
                        <a:solidFill>
                          <a:schemeClr val="tx1"/>
                        </a:solidFill>
                      </a:endParaRP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dirty="0">
                          <a:solidFill>
                            <a:schemeClr val="tx1"/>
                          </a:solidFill>
                        </a:rPr>
                        <a:t>OpenAI Embeddings</a:t>
                      </a:r>
                    </a:p>
                  </a:txBody>
                  <a:tcPr marL="168895" marR="114995" marT="129919" marB="12991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761328336"/>
                  </a:ext>
                </a:extLst>
              </a:tr>
              <a:tr h="10641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cap="none" spc="0" dirty="0">
                          <a:solidFill>
                            <a:schemeClr val="tx1"/>
                          </a:solidFill>
                        </a:rPr>
                        <a:t>Cost</a:t>
                      </a:r>
                    </a:p>
                    <a:p>
                      <a:endParaRPr lang="en-IN" sz="2000" cap="none" spc="0" dirty="0">
                        <a:solidFill>
                          <a:schemeClr val="tx1"/>
                        </a:solidFill>
                      </a:endParaRP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cap="none" spc="0" dirty="0">
                          <a:solidFill>
                            <a:schemeClr val="tx1"/>
                          </a:solidFill>
                        </a:rPr>
                        <a:t>Free (runs locally)</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cap="none" spc="0" dirty="0">
                          <a:solidFill>
                            <a:schemeClr val="tx1"/>
                          </a:solidFill>
                        </a:rPr>
                        <a:t>Pay-per-token</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5710740"/>
                  </a:ext>
                </a:extLst>
              </a:tr>
              <a:tr h="1442488">
                <a:tc>
                  <a:txBody>
                    <a:bodyPr/>
                    <a:lstStyle/>
                    <a:p>
                      <a:r>
                        <a:rPr lang="en-IN" sz="2000" cap="none" spc="0" dirty="0">
                          <a:solidFill>
                            <a:schemeClr val="tx1"/>
                          </a:solidFill>
                        </a:rPr>
                        <a:t>Performance</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cap="none" spc="0" dirty="0">
                          <a:solidFill>
                            <a:schemeClr val="tx1"/>
                          </a:solidFill>
                        </a:rPr>
                        <a:t>Medium</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cap="none" spc="0" dirty="0">
                          <a:solidFill>
                            <a:schemeClr val="tx1"/>
                          </a:solidFill>
                        </a:rPr>
                        <a:t>High</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1809006"/>
                  </a:ext>
                </a:extLst>
              </a:tr>
              <a:tr h="989816">
                <a:tc>
                  <a:txBody>
                    <a:bodyPr/>
                    <a:lstStyle/>
                    <a:p>
                      <a:r>
                        <a:rPr lang="en-IN" sz="2000" cap="none" spc="0" dirty="0">
                          <a:solidFill>
                            <a:srgbClr val="161A3E"/>
                          </a:solidFill>
                        </a:rPr>
                        <a:t>Use Case</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cap="none" spc="0" dirty="0">
                          <a:solidFill>
                            <a:schemeClr val="tx1"/>
                          </a:solidFill>
                        </a:rPr>
                        <a:t>On-device retrieval</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2000" cap="none" spc="0" dirty="0">
                          <a:solidFill>
                            <a:schemeClr val="tx1"/>
                          </a:solidFill>
                        </a:rPr>
                        <a:t>Cloud-based RAG, scalable</a:t>
                      </a:r>
                    </a:p>
                  </a:txBody>
                  <a:tcPr marL="152505" marR="117312" marT="117312" marB="11731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7517197"/>
                  </a:ext>
                </a:extLst>
              </a:tr>
            </a:tbl>
          </a:graphicData>
        </a:graphic>
      </p:graphicFrame>
    </p:spTree>
    <p:extLst>
      <p:ext uri="{BB962C8B-B14F-4D97-AF65-F5344CB8AC3E}">
        <p14:creationId xmlns:p14="http://schemas.microsoft.com/office/powerpoint/2010/main" val="1997058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EC754-2BB4-9C7B-934C-598208A3E239}"/>
              </a:ext>
            </a:extLst>
          </p:cNvPr>
          <p:cNvSpPr>
            <a:spLocks noGrp="1"/>
          </p:cNvSpPr>
          <p:nvPr>
            <p:ph type="title"/>
          </p:nvPr>
        </p:nvSpPr>
        <p:spPr>
          <a:xfrm>
            <a:off x="668144" y="558606"/>
            <a:ext cx="10828531" cy="709807"/>
          </a:xfrm>
        </p:spPr>
        <p:txBody>
          <a:bodyPr/>
          <a:lstStyle/>
          <a:p>
            <a:r>
              <a:rPr lang="en-IN" dirty="0"/>
              <a:t>Building a FAISS Index (Facebook AI Similarity Search)</a:t>
            </a:r>
            <a:endParaRPr lang="en-US" dirty="0"/>
          </a:p>
        </p:txBody>
      </p:sp>
      <p:sp>
        <p:nvSpPr>
          <p:cNvPr id="3" name="Content Placeholder 2">
            <a:extLst>
              <a:ext uri="{FF2B5EF4-FFF2-40B4-BE49-F238E27FC236}">
                <a16:creationId xmlns:a16="http://schemas.microsoft.com/office/drawing/2014/main" id="{2D8C91DF-960B-570F-9B54-ABBE17477E47}"/>
              </a:ext>
            </a:extLst>
          </p:cNvPr>
          <p:cNvSpPr>
            <a:spLocks noGrp="1"/>
          </p:cNvSpPr>
          <p:nvPr>
            <p:ph idx="1"/>
          </p:nvPr>
        </p:nvSpPr>
        <p:spPr>
          <a:xfrm>
            <a:off x="668145" y="1638106"/>
            <a:ext cx="5427855" cy="4454719"/>
          </a:xfrm>
        </p:spPr>
        <p:txBody>
          <a:bodyPr>
            <a:noAutofit/>
          </a:bodyPr>
          <a:lstStyle/>
          <a:p>
            <a:pPr marL="0" indent="0">
              <a:spcBef>
                <a:spcPts val="600"/>
              </a:spcBef>
              <a:spcAft>
                <a:spcPts val="600"/>
              </a:spcAft>
              <a:buNone/>
            </a:pPr>
            <a:r>
              <a:rPr lang="en-IN" sz="2400" b="1" dirty="0"/>
              <a:t>What is FAISS?</a:t>
            </a:r>
            <a:endParaRPr lang="en-IN" sz="2400" dirty="0"/>
          </a:p>
          <a:p>
            <a:pPr lvl="1">
              <a:spcBef>
                <a:spcPts val="600"/>
              </a:spcBef>
              <a:spcAft>
                <a:spcPts val="600"/>
              </a:spcAft>
            </a:pPr>
            <a:r>
              <a:rPr lang="en-IN" dirty="0"/>
              <a:t>Library for efficient similarity search on dense vectors</a:t>
            </a:r>
          </a:p>
          <a:p>
            <a:pPr marL="0" indent="0">
              <a:spcBef>
                <a:spcPts val="600"/>
              </a:spcBef>
              <a:spcAft>
                <a:spcPts val="600"/>
              </a:spcAft>
              <a:buNone/>
            </a:pPr>
            <a:r>
              <a:rPr lang="en-IN" sz="2400" b="1" dirty="0"/>
              <a:t>Why use FAISS?</a:t>
            </a:r>
            <a:endParaRPr lang="en-IN" sz="2400" dirty="0"/>
          </a:p>
          <a:p>
            <a:pPr lvl="1">
              <a:spcBef>
                <a:spcPts val="600"/>
              </a:spcBef>
              <a:spcAft>
                <a:spcPts val="600"/>
              </a:spcAft>
            </a:pPr>
            <a:r>
              <a:rPr lang="en-IN" dirty="0"/>
              <a:t>Handles large-scale vector databases with fast search speed</a:t>
            </a:r>
          </a:p>
          <a:p>
            <a:pPr marL="0" indent="0">
              <a:spcBef>
                <a:spcPts val="600"/>
              </a:spcBef>
              <a:spcAft>
                <a:spcPts val="600"/>
              </a:spcAft>
              <a:buNone/>
            </a:pPr>
            <a:r>
              <a:rPr lang="en-IN" sz="2400" b="1" dirty="0"/>
              <a:t>Index Types:</a:t>
            </a:r>
          </a:p>
          <a:p>
            <a:pPr lvl="1">
              <a:spcBef>
                <a:spcPts val="600"/>
              </a:spcBef>
              <a:spcAft>
                <a:spcPts val="600"/>
              </a:spcAft>
            </a:pPr>
            <a:r>
              <a:rPr lang="en-IN" dirty="0"/>
              <a:t>IndexFlatL2: Simple, brute-force</a:t>
            </a:r>
          </a:p>
          <a:p>
            <a:pPr lvl="1">
              <a:spcBef>
                <a:spcPts val="600"/>
              </a:spcBef>
              <a:spcAft>
                <a:spcPts val="600"/>
              </a:spcAft>
            </a:pPr>
            <a:r>
              <a:rPr lang="en-IN" dirty="0" err="1"/>
              <a:t>IndexIVFFlat</a:t>
            </a:r>
            <a:r>
              <a:rPr lang="en-IN" dirty="0"/>
              <a:t>: Optimized, requires training</a:t>
            </a:r>
            <a:endParaRPr lang="en-US" dirty="0"/>
          </a:p>
        </p:txBody>
      </p:sp>
      <p:sp>
        <p:nvSpPr>
          <p:cNvPr id="4" name="Content Placeholder 2">
            <a:extLst>
              <a:ext uri="{FF2B5EF4-FFF2-40B4-BE49-F238E27FC236}">
                <a16:creationId xmlns:a16="http://schemas.microsoft.com/office/drawing/2014/main" id="{B0794DEE-3D48-85E8-1A24-785988F09685}"/>
              </a:ext>
            </a:extLst>
          </p:cNvPr>
          <p:cNvSpPr txBox="1">
            <a:spLocks/>
          </p:cNvSpPr>
          <p:nvPr/>
        </p:nvSpPr>
        <p:spPr>
          <a:xfrm>
            <a:off x="6096000" y="1638106"/>
            <a:ext cx="5400675" cy="44547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61A3E"/>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61A3E"/>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61A3E"/>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61A3E"/>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61A3E"/>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IN" sz="2400" b="1" dirty="0"/>
              <a:t>Steps to Build:</a:t>
            </a:r>
          </a:p>
          <a:p>
            <a:pPr lvl="1">
              <a:spcBef>
                <a:spcPts val="600"/>
              </a:spcBef>
              <a:spcAft>
                <a:spcPts val="600"/>
              </a:spcAft>
            </a:pPr>
            <a:r>
              <a:rPr lang="en-IN" b="1" dirty="0"/>
              <a:t>Generate Embeddings</a:t>
            </a:r>
            <a:r>
              <a:rPr lang="en-IN" dirty="0"/>
              <a:t> (e.g., with </a:t>
            </a:r>
            <a:r>
              <a:rPr lang="en-IN" dirty="0" err="1"/>
              <a:t>MiniLM</a:t>
            </a:r>
            <a:r>
              <a:rPr lang="en-IN" dirty="0"/>
              <a:t> or OpenAI)</a:t>
            </a:r>
          </a:p>
          <a:p>
            <a:pPr lvl="1">
              <a:spcBef>
                <a:spcPts val="600"/>
              </a:spcBef>
              <a:spcAft>
                <a:spcPts val="600"/>
              </a:spcAft>
            </a:pPr>
            <a:r>
              <a:rPr lang="en-IN" b="1" dirty="0"/>
              <a:t>Create Index</a:t>
            </a:r>
            <a:endParaRPr lang="en-IN" dirty="0"/>
          </a:p>
          <a:p>
            <a:pPr lvl="2">
              <a:spcBef>
                <a:spcPts val="600"/>
              </a:spcBef>
              <a:spcAft>
                <a:spcPts val="600"/>
              </a:spcAft>
            </a:pPr>
            <a:r>
              <a:rPr lang="en-US" i="1" dirty="0"/>
              <a:t>import </a:t>
            </a:r>
            <a:r>
              <a:rPr lang="en-US" i="1" dirty="0" err="1"/>
              <a:t>faiss</a:t>
            </a:r>
            <a:endParaRPr lang="en-US" i="1" dirty="0"/>
          </a:p>
          <a:p>
            <a:pPr lvl="2">
              <a:spcBef>
                <a:spcPts val="600"/>
              </a:spcBef>
              <a:spcAft>
                <a:spcPts val="600"/>
              </a:spcAft>
            </a:pPr>
            <a:r>
              <a:rPr lang="en-US" i="1" dirty="0"/>
              <a:t>index = faiss.IndexFlatL2(d)</a:t>
            </a:r>
          </a:p>
          <a:p>
            <a:pPr lvl="2">
              <a:spcBef>
                <a:spcPts val="600"/>
              </a:spcBef>
              <a:spcAft>
                <a:spcPts val="600"/>
              </a:spcAft>
            </a:pPr>
            <a:r>
              <a:rPr lang="en-US" i="1" dirty="0" err="1"/>
              <a:t>index.add</a:t>
            </a:r>
            <a:r>
              <a:rPr lang="en-US" i="1" dirty="0"/>
              <a:t>(</a:t>
            </a:r>
            <a:r>
              <a:rPr lang="en-US" i="1" dirty="0" err="1"/>
              <a:t>embedding_vectors</a:t>
            </a:r>
            <a:r>
              <a:rPr lang="en-US" i="1" dirty="0"/>
              <a:t>)</a:t>
            </a:r>
          </a:p>
          <a:p>
            <a:pPr lvl="2">
              <a:spcBef>
                <a:spcPts val="600"/>
              </a:spcBef>
              <a:spcAft>
                <a:spcPts val="600"/>
              </a:spcAft>
            </a:pPr>
            <a:r>
              <a:rPr lang="en-US" i="1" dirty="0"/>
              <a:t>D, I = </a:t>
            </a:r>
            <a:r>
              <a:rPr lang="en-US" i="1" dirty="0" err="1"/>
              <a:t>index.search</a:t>
            </a:r>
            <a:r>
              <a:rPr lang="en-US" i="1" dirty="0"/>
              <a:t>(</a:t>
            </a:r>
            <a:r>
              <a:rPr lang="en-US" i="1" dirty="0" err="1"/>
              <a:t>query_vector</a:t>
            </a:r>
            <a:r>
              <a:rPr lang="en-US" i="1" dirty="0"/>
              <a:t>, k)</a:t>
            </a:r>
          </a:p>
        </p:txBody>
      </p:sp>
      <p:cxnSp>
        <p:nvCxnSpPr>
          <p:cNvPr id="7" name="Straight Connector 6">
            <a:extLst>
              <a:ext uri="{FF2B5EF4-FFF2-40B4-BE49-F238E27FC236}">
                <a16:creationId xmlns:a16="http://schemas.microsoft.com/office/drawing/2014/main" id="{D12516BD-A9D6-BFD6-83ED-F6E1D1511A5D}"/>
              </a:ext>
            </a:extLst>
          </p:cNvPr>
          <p:cNvCxnSpPr/>
          <p:nvPr/>
        </p:nvCxnSpPr>
        <p:spPr>
          <a:xfrm>
            <a:off x="6096000" y="1628775"/>
            <a:ext cx="0" cy="446405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20932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BADA8-5E77-03ED-9F1B-6F086F0D1DA6}"/>
              </a:ext>
            </a:extLst>
          </p:cNvPr>
          <p:cNvSpPr>
            <a:spLocks noGrp="1"/>
          </p:cNvSpPr>
          <p:nvPr>
            <p:ph type="title"/>
          </p:nvPr>
        </p:nvSpPr>
        <p:spPr>
          <a:xfrm>
            <a:off x="676469" y="558606"/>
            <a:ext cx="10820206" cy="709807"/>
          </a:xfrm>
        </p:spPr>
        <p:txBody>
          <a:bodyPr/>
          <a:lstStyle/>
          <a:p>
            <a:r>
              <a:rPr lang="en-IN" dirty="0"/>
              <a:t>Bringing it Together: RAG System Pipeline</a:t>
            </a:r>
            <a:endParaRPr lang="en-US" dirty="0"/>
          </a:p>
        </p:txBody>
      </p:sp>
      <p:sp>
        <p:nvSpPr>
          <p:cNvPr id="3" name="Content Placeholder 2">
            <a:extLst>
              <a:ext uri="{FF2B5EF4-FFF2-40B4-BE49-F238E27FC236}">
                <a16:creationId xmlns:a16="http://schemas.microsoft.com/office/drawing/2014/main" id="{CE097D12-5743-CC46-838C-A3371FF74D42}"/>
              </a:ext>
            </a:extLst>
          </p:cNvPr>
          <p:cNvSpPr>
            <a:spLocks noGrp="1"/>
          </p:cNvSpPr>
          <p:nvPr>
            <p:ph idx="1"/>
          </p:nvPr>
        </p:nvSpPr>
        <p:spPr>
          <a:xfrm>
            <a:off x="676468" y="1638106"/>
            <a:ext cx="10820207" cy="4454719"/>
          </a:xfrm>
        </p:spPr>
        <p:txBody>
          <a:bodyPr>
            <a:normAutofit/>
          </a:bodyPr>
          <a:lstStyle/>
          <a:p>
            <a:pPr marL="0" indent="0">
              <a:spcBef>
                <a:spcPts val="600"/>
              </a:spcBef>
              <a:spcAft>
                <a:spcPts val="600"/>
              </a:spcAft>
              <a:buNone/>
            </a:pPr>
            <a:r>
              <a:rPr lang="en-IN" sz="2400" b="1" dirty="0"/>
              <a:t>1. Input Query</a:t>
            </a:r>
            <a:endParaRPr lang="en-IN" sz="2400" dirty="0"/>
          </a:p>
          <a:p>
            <a:pPr marL="0" indent="0">
              <a:spcBef>
                <a:spcPts val="600"/>
              </a:spcBef>
              <a:spcAft>
                <a:spcPts val="600"/>
              </a:spcAft>
              <a:buNone/>
            </a:pPr>
            <a:r>
              <a:rPr lang="en-IN" sz="2400" b="1" dirty="0"/>
              <a:t>2. Embed the Query</a:t>
            </a:r>
            <a:endParaRPr lang="en-IN" sz="2400" dirty="0"/>
          </a:p>
          <a:p>
            <a:pPr marL="0" indent="0">
              <a:spcBef>
                <a:spcPts val="600"/>
              </a:spcBef>
              <a:spcAft>
                <a:spcPts val="600"/>
              </a:spcAft>
              <a:buNone/>
            </a:pPr>
            <a:r>
              <a:rPr lang="en-IN" sz="2400" b="1" dirty="0"/>
              <a:t>3. Retrieve Top-K Chunks via FAISS</a:t>
            </a:r>
            <a:endParaRPr lang="en-IN" sz="2400" dirty="0"/>
          </a:p>
          <a:p>
            <a:pPr marL="0" indent="0">
              <a:spcBef>
                <a:spcPts val="600"/>
              </a:spcBef>
              <a:spcAft>
                <a:spcPts val="600"/>
              </a:spcAft>
              <a:buNone/>
            </a:pPr>
            <a:r>
              <a:rPr lang="en-IN" sz="2400" b="1" dirty="0"/>
              <a:t>4. Concatenate into Context</a:t>
            </a:r>
            <a:endParaRPr lang="en-IN" sz="2400" dirty="0"/>
          </a:p>
          <a:p>
            <a:pPr marL="0" indent="0">
              <a:spcBef>
                <a:spcPts val="600"/>
              </a:spcBef>
              <a:spcAft>
                <a:spcPts val="600"/>
              </a:spcAft>
              <a:buNone/>
            </a:pPr>
            <a:r>
              <a:rPr lang="en-IN" sz="2400" b="1" dirty="0"/>
              <a:t>5. Feed to LLM (like GPT-4, Claude, etc.)</a:t>
            </a:r>
            <a:endParaRPr lang="en-IN" sz="2400" dirty="0"/>
          </a:p>
          <a:p>
            <a:pPr marL="0" indent="0">
              <a:spcBef>
                <a:spcPts val="600"/>
              </a:spcBef>
              <a:spcAft>
                <a:spcPts val="600"/>
              </a:spcAft>
              <a:buNone/>
            </a:pPr>
            <a:r>
              <a:rPr lang="en-IN" sz="2400" b="1" dirty="0"/>
              <a:t>6. Generate Answer</a:t>
            </a:r>
          </a:p>
          <a:p>
            <a:pPr marL="0" indent="0">
              <a:spcBef>
                <a:spcPts val="600"/>
              </a:spcBef>
              <a:spcAft>
                <a:spcPts val="600"/>
              </a:spcAft>
              <a:buNone/>
            </a:pPr>
            <a:endParaRPr lang="en-US" sz="2400" dirty="0"/>
          </a:p>
          <a:p>
            <a:pPr marL="0" indent="0">
              <a:spcBef>
                <a:spcPts val="600"/>
              </a:spcBef>
              <a:spcAft>
                <a:spcPts val="600"/>
              </a:spcAft>
              <a:buNone/>
            </a:pPr>
            <a:r>
              <a:rPr lang="en-IN" sz="2400" b="1" dirty="0"/>
              <a:t>Diagram:</a:t>
            </a:r>
            <a:r>
              <a:rPr lang="en-IN" sz="2400" dirty="0"/>
              <a:t> A flow diagram from </a:t>
            </a:r>
            <a:r>
              <a:rPr lang="en-IN" sz="2400" i="1" dirty="0"/>
              <a:t>query → embed → retrieve → LLM</a:t>
            </a:r>
            <a:endParaRPr lang="en-US" sz="2400" i="1" dirty="0"/>
          </a:p>
        </p:txBody>
      </p:sp>
    </p:spTree>
    <p:extLst>
      <p:ext uri="{BB962C8B-B14F-4D97-AF65-F5344CB8AC3E}">
        <p14:creationId xmlns:p14="http://schemas.microsoft.com/office/powerpoint/2010/main" val="147049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8177D-92D0-ECD8-8D7E-303016DDBC9B}"/>
              </a:ext>
            </a:extLst>
          </p:cNvPr>
          <p:cNvSpPr>
            <a:spLocks noGrp="1"/>
          </p:cNvSpPr>
          <p:nvPr>
            <p:ph type="title"/>
          </p:nvPr>
        </p:nvSpPr>
        <p:spPr>
          <a:xfrm>
            <a:off x="668145" y="558606"/>
            <a:ext cx="10828530" cy="709807"/>
          </a:xfrm>
        </p:spPr>
        <p:txBody>
          <a:bodyPr/>
          <a:lstStyle/>
          <a:p>
            <a:r>
              <a:rPr lang="en-IN" dirty="0"/>
              <a:t>Multimodal Systems Brief Overview</a:t>
            </a:r>
            <a:endParaRPr lang="en-US" dirty="0"/>
          </a:p>
        </p:txBody>
      </p:sp>
      <p:sp>
        <p:nvSpPr>
          <p:cNvPr id="3" name="Content Placeholder 2">
            <a:extLst>
              <a:ext uri="{FF2B5EF4-FFF2-40B4-BE49-F238E27FC236}">
                <a16:creationId xmlns:a16="http://schemas.microsoft.com/office/drawing/2014/main" id="{11C314F2-63BA-72A2-B95E-5DE8081A54D3}"/>
              </a:ext>
            </a:extLst>
          </p:cNvPr>
          <p:cNvSpPr>
            <a:spLocks noGrp="1"/>
          </p:cNvSpPr>
          <p:nvPr>
            <p:ph idx="1"/>
          </p:nvPr>
        </p:nvSpPr>
        <p:spPr>
          <a:xfrm>
            <a:off x="668146" y="1639127"/>
            <a:ext cx="10828530" cy="4453697"/>
          </a:xfrm>
        </p:spPr>
        <p:txBody>
          <a:bodyPr>
            <a:normAutofit/>
          </a:bodyPr>
          <a:lstStyle/>
          <a:p>
            <a:pPr marL="0" indent="0">
              <a:spcBef>
                <a:spcPts val="600"/>
              </a:spcBef>
              <a:spcAft>
                <a:spcPts val="600"/>
              </a:spcAft>
              <a:buNone/>
            </a:pPr>
            <a:r>
              <a:rPr lang="en-IN" sz="2400" b="1" dirty="0"/>
              <a:t>Definition:</a:t>
            </a:r>
            <a:r>
              <a:rPr lang="en-IN" sz="2400" dirty="0"/>
              <a:t> Models that process multiple input types — text, image, audio</a:t>
            </a:r>
          </a:p>
          <a:p>
            <a:pPr marL="0" indent="0">
              <a:spcBef>
                <a:spcPts val="600"/>
              </a:spcBef>
              <a:spcAft>
                <a:spcPts val="600"/>
              </a:spcAft>
              <a:buNone/>
            </a:pPr>
            <a:r>
              <a:rPr lang="en-IN" sz="2400" b="1" dirty="0"/>
              <a:t>Examples:</a:t>
            </a:r>
            <a:r>
              <a:rPr lang="en-IN" sz="2400" dirty="0"/>
              <a:t> GPT-4V, Gemini, CLIP, Flamingo</a:t>
            </a:r>
          </a:p>
          <a:p>
            <a:pPr marL="0" indent="0">
              <a:spcBef>
                <a:spcPts val="600"/>
              </a:spcBef>
              <a:spcAft>
                <a:spcPts val="600"/>
              </a:spcAft>
              <a:buNone/>
            </a:pPr>
            <a:r>
              <a:rPr lang="en-IN" sz="2400" b="1" dirty="0"/>
              <a:t>Use in RAG:</a:t>
            </a:r>
            <a:r>
              <a:rPr lang="en-IN" sz="2400" dirty="0"/>
              <a:t> Combine textual retrieval with visual search or context (e.g., retrieve product images + descriptions)</a:t>
            </a:r>
          </a:p>
        </p:txBody>
      </p:sp>
    </p:spTree>
    <p:extLst>
      <p:ext uri="{BB962C8B-B14F-4D97-AF65-F5344CB8AC3E}">
        <p14:creationId xmlns:p14="http://schemas.microsoft.com/office/powerpoint/2010/main" val="1889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A241-3644-2B91-CED5-5C777B98B52D}"/>
              </a:ext>
            </a:extLst>
          </p:cNvPr>
          <p:cNvSpPr>
            <a:spLocks noGrp="1"/>
          </p:cNvSpPr>
          <p:nvPr>
            <p:ph type="title"/>
          </p:nvPr>
        </p:nvSpPr>
        <p:spPr>
          <a:xfrm>
            <a:off x="668145" y="558606"/>
            <a:ext cx="10837862" cy="709807"/>
          </a:xfrm>
        </p:spPr>
        <p:txBody>
          <a:bodyPr/>
          <a:lstStyle/>
          <a:p>
            <a:r>
              <a:rPr lang="en-IN" dirty="0"/>
              <a:t>Summary &amp; Best Practices</a:t>
            </a:r>
            <a:endParaRPr lang="en-US" dirty="0"/>
          </a:p>
        </p:txBody>
      </p:sp>
      <p:sp>
        <p:nvSpPr>
          <p:cNvPr id="3" name="Content Placeholder 2">
            <a:extLst>
              <a:ext uri="{FF2B5EF4-FFF2-40B4-BE49-F238E27FC236}">
                <a16:creationId xmlns:a16="http://schemas.microsoft.com/office/drawing/2014/main" id="{BB89B2B2-6976-0CFD-8733-55BA4CD002E8}"/>
              </a:ext>
            </a:extLst>
          </p:cNvPr>
          <p:cNvSpPr>
            <a:spLocks noGrp="1"/>
          </p:cNvSpPr>
          <p:nvPr>
            <p:ph idx="1"/>
          </p:nvPr>
        </p:nvSpPr>
        <p:spPr>
          <a:xfrm>
            <a:off x="668144" y="1638106"/>
            <a:ext cx="10837862" cy="4464050"/>
          </a:xfrm>
        </p:spPr>
        <p:txBody>
          <a:bodyPr/>
          <a:lstStyle/>
          <a:p>
            <a:r>
              <a:rPr lang="en-IN" sz="2400" dirty="0"/>
              <a:t>Use </a:t>
            </a:r>
            <a:r>
              <a:rPr lang="en-IN" sz="2400" b="1" dirty="0" err="1"/>
              <a:t>MiniLM</a:t>
            </a:r>
            <a:r>
              <a:rPr lang="en-IN" sz="2400" dirty="0"/>
              <a:t> for lightweight, local experimentation</a:t>
            </a:r>
          </a:p>
          <a:p>
            <a:r>
              <a:rPr lang="en-IN" sz="2400" dirty="0"/>
              <a:t>Use </a:t>
            </a:r>
            <a:r>
              <a:rPr lang="en-IN" sz="2400" b="1" dirty="0"/>
              <a:t>OpenAI embeddings</a:t>
            </a:r>
            <a:r>
              <a:rPr lang="en-IN" sz="2400" dirty="0"/>
              <a:t> when accuracy matters more than cost</a:t>
            </a:r>
          </a:p>
          <a:p>
            <a:r>
              <a:rPr lang="en-IN" sz="2400" b="1" dirty="0"/>
              <a:t>Cosine similarity</a:t>
            </a:r>
            <a:r>
              <a:rPr lang="en-IN" sz="2400" dirty="0"/>
              <a:t> is best for semantic search</a:t>
            </a:r>
          </a:p>
          <a:p>
            <a:r>
              <a:rPr lang="en-IN" sz="2400" b="1" dirty="0"/>
              <a:t>FAISS</a:t>
            </a:r>
            <a:r>
              <a:rPr lang="en-IN" sz="2400" dirty="0"/>
              <a:t> is the gold standard for vector indexing</a:t>
            </a:r>
          </a:p>
          <a:p>
            <a:r>
              <a:rPr lang="en-IN" sz="2400" dirty="0"/>
              <a:t>Combine </a:t>
            </a:r>
            <a:r>
              <a:rPr lang="en-IN" sz="2400" b="1" dirty="0"/>
              <a:t>retrieval with generation</a:t>
            </a:r>
            <a:r>
              <a:rPr lang="en-IN" sz="2400" dirty="0"/>
              <a:t> for scalable, accurate LLM outputs</a:t>
            </a:r>
          </a:p>
        </p:txBody>
      </p:sp>
    </p:spTree>
    <p:extLst>
      <p:ext uri="{BB962C8B-B14F-4D97-AF65-F5344CB8AC3E}">
        <p14:creationId xmlns:p14="http://schemas.microsoft.com/office/powerpoint/2010/main" val="836299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658812" y="1274205"/>
            <a:ext cx="10837863" cy="4464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br>
              <a:rPr lang="en-US" sz="6600" b="1" dirty="0">
                <a:latin typeface="Calibri" panose="020F0502020204030204" pitchFamily="34" charset="0"/>
              </a:rPr>
            </a:br>
            <a:r>
              <a:rPr lang="en-US" sz="2000" b="1" i="1" dirty="0">
                <a:latin typeface="Calibri" panose="020F0502020204030204" pitchFamily="34" charset="0"/>
              </a:rPr>
              <a:t>(Q&amp;A)</a:t>
            </a:r>
            <a:endParaRPr lang="en-IN" sz="20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7320</TotalTime>
  <Words>611</Words>
  <Application>Microsoft Office PowerPoint</Application>
  <PresentationFormat>Widescreen</PresentationFormat>
  <Paragraphs>98</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BIA Template</vt:lpstr>
      <vt:lpstr>PowerPoint Presentation</vt:lpstr>
      <vt:lpstr>Agenda</vt:lpstr>
      <vt:lpstr>What is Retrieval-Augmented Generation (RAG)?</vt:lpstr>
      <vt:lpstr>Embeddings Refresher</vt:lpstr>
      <vt:lpstr>Similarity Metrics</vt:lpstr>
      <vt:lpstr>all-MiniLM vs OpenAI Embeddings – Cost &amp; Performance</vt:lpstr>
      <vt:lpstr>Building a FAISS Index (Facebook AI Similarity Search)</vt:lpstr>
      <vt:lpstr>Bringing it Together: RAG System Pipeline</vt:lpstr>
      <vt:lpstr>Multimodal Systems Brief Overview</vt:lpstr>
      <vt:lpstr>Summary &amp; Best Practices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2315</cp:revision>
  <dcterms:created xsi:type="dcterms:W3CDTF">2020-12-23T13:36:00Z</dcterms:created>
  <dcterms:modified xsi:type="dcterms:W3CDTF">2025-06-12T07:30:40Z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