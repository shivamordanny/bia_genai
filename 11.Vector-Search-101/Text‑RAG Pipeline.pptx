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2"/>
  </p:notesMasterIdLst>
  <p:sldIdLst>
    <p:sldId id="256" r:id="rId2"/>
    <p:sldId id="674" r:id="rId3"/>
    <p:sldId id="261" r:id="rId4"/>
    <p:sldId id="257" r:id="rId5"/>
    <p:sldId id="258" r:id="rId6"/>
    <p:sldId id="259" r:id="rId7"/>
    <p:sldId id="260" r:id="rId8"/>
    <p:sldId id="262" r:id="rId9"/>
    <p:sldId id="263"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799" userDrawn="1">
          <p15:clr>
            <a:srgbClr val="A4A3A4"/>
          </p15:clr>
        </p15:guide>
        <p15:guide id="3" orient="horz" pos="3838" userDrawn="1">
          <p15:clr>
            <a:srgbClr val="A4A3A4"/>
          </p15:clr>
        </p15:guide>
        <p15:guide id="4" pos="438" userDrawn="1">
          <p15:clr>
            <a:srgbClr val="A4A3A4"/>
          </p15:clr>
        </p15:guide>
        <p15:guide id="5" pos="7265" userDrawn="1">
          <p15:clr>
            <a:srgbClr val="A4A3A4"/>
          </p15:clr>
        </p15:guide>
        <p15:guide id="6"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103" d="100"/>
          <a:sy n="103" d="100"/>
        </p:scale>
        <p:origin x="450" y="114"/>
      </p:cViewPr>
      <p:guideLst>
        <p:guide orient="horz" pos="346"/>
        <p:guide orient="horz" pos="799"/>
        <p:guide orient="horz" pos="3838"/>
        <p:guide pos="438"/>
        <p:guide pos="7265"/>
        <p:guide orient="horz" pos="1026"/>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07-06-2025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allenai/bi-att-flow/blob/master/squad/evaluate-v1.1.py"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95325" y="1274207"/>
            <a:ext cx="10837863" cy="446404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b="1" dirty="0"/>
              <a:t>Text-RAG Pipeline</a:t>
            </a:r>
            <a:endParaRPr lang="en-US" sz="4400" b="1" dirty="0">
              <a:latin typeface="Calibri" panose="020F0502020204030204" pitchFamily="34" charset="0"/>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95325" y="549275"/>
            <a:ext cx="10837863" cy="719137"/>
          </a:xfrm>
        </p:spPr>
        <p:txBody>
          <a:bodyPr/>
          <a:lstStyle/>
          <a:p>
            <a:r>
              <a:rPr lang="en-IN" dirty="0">
                <a:solidFill>
                  <a:srgbClr val="161A3E"/>
                </a:solidFill>
              </a:rPr>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04655" y="1638106"/>
            <a:ext cx="10828533" cy="445471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IN" sz="2400" dirty="0"/>
              <a:t>Text-RAG Pipeline</a:t>
            </a:r>
          </a:p>
          <a:p>
            <a:pPr lvl="0"/>
            <a:r>
              <a:rPr lang="en-US" sz="2400" dirty="0"/>
              <a:t>Chunking Strategies</a:t>
            </a:r>
          </a:p>
          <a:p>
            <a:pPr lvl="0"/>
            <a:r>
              <a:rPr lang="en-IN" sz="2400" dirty="0"/>
              <a:t>Retriever-Router-Generator Architecture</a:t>
            </a:r>
          </a:p>
          <a:p>
            <a:pPr lvl="0"/>
            <a:r>
              <a:rPr lang="en-IN" sz="2400" dirty="0"/>
              <a:t>Evaluating a RAG System</a:t>
            </a:r>
          </a:p>
          <a:p>
            <a:pPr lvl="0"/>
            <a:r>
              <a:rPr lang="en-IN" sz="2400" dirty="0"/>
              <a:t>Retrieval Evaluation – </a:t>
            </a:r>
            <a:r>
              <a:rPr lang="en-IN" sz="2400" dirty="0" err="1"/>
              <a:t>Precision@K</a:t>
            </a:r>
            <a:endParaRPr lang="en-IN" sz="2400" dirty="0"/>
          </a:p>
          <a:p>
            <a:pPr lvl="0"/>
            <a:r>
              <a:rPr lang="en-IN" sz="2400" dirty="0"/>
              <a:t>Combined RAG Evaluation Strategy</a:t>
            </a:r>
          </a:p>
          <a:p>
            <a:pPr lvl="0"/>
            <a:endParaRPr lang="en-IN" sz="2400" dirty="0"/>
          </a:p>
          <a:p>
            <a:pPr lvl="0"/>
            <a:endParaRPr lang="en-IN" sz="2400" dirty="0"/>
          </a:p>
          <a:p>
            <a:pPr lvl="0"/>
            <a:endParaRPr lang="en-IN" sz="2400" dirty="0"/>
          </a:p>
          <a:p>
            <a:pPr lvl="0"/>
            <a:endParaRPr lang="en-US" sz="2400" dirty="0"/>
          </a:p>
          <a:p>
            <a:pPr lvl="0"/>
            <a:endParaRPr lang="en-IN" sz="2400" dirty="0"/>
          </a:p>
          <a:p>
            <a:pPr lvl="0"/>
            <a:endParaRPr lang="en-IN" sz="2400" dirty="0"/>
          </a:p>
          <a:p>
            <a:pPr lvl="0"/>
            <a:endParaRPr lang="en-US" sz="2400" dirty="0">
              <a:solidFill>
                <a:srgbClr val="161A3E"/>
              </a:solidFill>
            </a:endParaRP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1D15A-9BAB-DB07-75AD-E2C2C43AE53F}"/>
              </a:ext>
            </a:extLst>
          </p:cNvPr>
          <p:cNvSpPr>
            <a:spLocks noGrp="1"/>
          </p:cNvSpPr>
          <p:nvPr>
            <p:ph type="title"/>
          </p:nvPr>
        </p:nvSpPr>
        <p:spPr>
          <a:xfrm>
            <a:off x="704655" y="558607"/>
            <a:ext cx="10828533" cy="709806"/>
          </a:xfrm>
        </p:spPr>
        <p:txBody>
          <a:bodyPr/>
          <a:lstStyle/>
          <a:p>
            <a:r>
              <a:rPr lang="en-IN" dirty="0"/>
              <a:t>What is a Text-RAG Pipeline?</a:t>
            </a:r>
            <a:endParaRPr lang="en-US" dirty="0"/>
          </a:p>
        </p:txBody>
      </p:sp>
      <p:sp>
        <p:nvSpPr>
          <p:cNvPr id="3" name="Content Placeholder 2">
            <a:extLst>
              <a:ext uri="{FF2B5EF4-FFF2-40B4-BE49-F238E27FC236}">
                <a16:creationId xmlns:a16="http://schemas.microsoft.com/office/drawing/2014/main" id="{B8E00FC4-00D3-3302-41F5-A3CED4580302}"/>
              </a:ext>
            </a:extLst>
          </p:cNvPr>
          <p:cNvSpPr>
            <a:spLocks noGrp="1"/>
          </p:cNvSpPr>
          <p:nvPr>
            <p:ph idx="1"/>
          </p:nvPr>
        </p:nvSpPr>
        <p:spPr>
          <a:xfrm>
            <a:off x="704656" y="1638106"/>
            <a:ext cx="10837864" cy="4464050"/>
          </a:xfrm>
        </p:spPr>
        <p:txBody>
          <a:bodyPr>
            <a:normAutofit/>
          </a:bodyPr>
          <a:lstStyle/>
          <a:p>
            <a:pPr marL="0" indent="0">
              <a:spcBef>
                <a:spcPts val="600"/>
              </a:spcBef>
              <a:spcAft>
                <a:spcPts val="600"/>
              </a:spcAft>
              <a:buNone/>
            </a:pPr>
            <a:r>
              <a:rPr lang="en-IN" sz="2400" b="1" dirty="0"/>
              <a:t>Definition:</a:t>
            </a:r>
            <a:r>
              <a:rPr lang="en-IN" sz="2400" dirty="0"/>
              <a:t> A pipeline that augments generative models with retrieved knowledge chunks</a:t>
            </a:r>
          </a:p>
          <a:p>
            <a:pPr marL="0" indent="0">
              <a:spcBef>
                <a:spcPts val="600"/>
              </a:spcBef>
              <a:spcAft>
                <a:spcPts val="600"/>
              </a:spcAft>
              <a:buNone/>
            </a:pPr>
            <a:r>
              <a:rPr lang="en-IN" sz="2400" b="1" dirty="0"/>
              <a:t>Core Stages:</a:t>
            </a:r>
            <a:endParaRPr lang="en-IN" sz="2400" dirty="0"/>
          </a:p>
          <a:p>
            <a:pPr lvl="1">
              <a:spcBef>
                <a:spcPts val="600"/>
              </a:spcBef>
              <a:spcAft>
                <a:spcPts val="600"/>
              </a:spcAft>
            </a:pPr>
            <a:r>
              <a:rPr lang="en-IN" dirty="0"/>
              <a:t>Chunk Text Data</a:t>
            </a:r>
          </a:p>
          <a:p>
            <a:pPr lvl="1">
              <a:spcBef>
                <a:spcPts val="600"/>
              </a:spcBef>
              <a:spcAft>
                <a:spcPts val="600"/>
              </a:spcAft>
            </a:pPr>
            <a:r>
              <a:rPr lang="en-IN" dirty="0"/>
              <a:t>Index with Embeddings</a:t>
            </a:r>
          </a:p>
          <a:p>
            <a:pPr lvl="1">
              <a:spcBef>
                <a:spcPts val="600"/>
              </a:spcBef>
              <a:spcAft>
                <a:spcPts val="600"/>
              </a:spcAft>
            </a:pPr>
            <a:r>
              <a:rPr lang="en-IN" dirty="0"/>
              <a:t>Retrieve relevant chunks</a:t>
            </a:r>
          </a:p>
          <a:p>
            <a:pPr lvl="1">
              <a:spcBef>
                <a:spcPts val="600"/>
              </a:spcBef>
              <a:spcAft>
                <a:spcPts val="600"/>
              </a:spcAft>
            </a:pPr>
            <a:r>
              <a:rPr lang="en-IN" dirty="0"/>
              <a:t>Generate response using LLM with retrieved context</a:t>
            </a:r>
          </a:p>
        </p:txBody>
      </p:sp>
    </p:spTree>
    <p:extLst>
      <p:ext uri="{BB962C8B-B14F-4D97-AF65-F5344CB8AC3E}">
        <p14:creationId xmlns:p14="http://schemas.microsoft.com/office/powerpoint/2010/main" val="2651077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22F5C-02BF-0CD5-E0F2-8E08CB4EABEA}"/>
              </a:ext>
            </a:extLst>
          </p:cNvPr>
          <p:cNvSpPr>
            <a:spLocks noGrp="1"/>
          </p:cNvSpPr>
          <p:nvPr>
            <p:ph type="title"/>
          </p:nvPr>
        </p:nvSpPr>
        <p:spPr>
          <a:xfrm>
            <a:off x="704656" y="561026"/>
            <a:ext cx="10828531" cy="707388"/>
          </a:xfrm>
        </p:spPr>
        <p:txBody>
          <a:bodyPr vert="horz" lIns="91440" tIns="45720" rIns="91440" bIns="45720" rtlCol="0" anchor="b">
            <a:normAutofit/>
          </a:bodyPr>
          <a:lstStyle/>
          <a:p>
            <a:r>
              <a:rPr lang="en-US" dirty="0"/>
              <a:t>Chunking Strategies</a:t>
            </a:r>
          </a:p>
        </p:txBody>
      </p:sp>
      <p:graphicFrame>
        <p:nvGraphicFramePr>
          <p:cNvPr id="4" name="Content Placeholder 3">
            <a:extLst>
              <a:ext uri="{FF2B5EF4-FFF2-40B4-BE49-F238E27FC236}">
                <a16:creationId xmlns:a16="http://schemas.microsoft.com/office/drawing/2014/main" id="{6BACFE81-188A-A9B9-0D34-1C43E7365198}"/>
              </a:ext>
            </a:extLst>
          </p:cNvPr>
          <p:cNvGraphicFramePr>
            <a:graphicFrameLocks noGrp="1"/>
          </p:cNvGraphicFramePr>
          <p:nvPr>
            <p:ph idx="1"/>
            <p:extLst>
              <p:ext uri="{D42A27DB-BD31-4B8C-83A1-F6EECF244321}">
                <p14:modId xmlns:p14="http://schemas.microsoft.com/office/powerpoint/2010/main" val="2734005419"/>
              </p:ext>
            </p:extLst>
          </p:nvPr>
        </p:nvGraphicFramePr>
        <p:xfrm>
          <a:off x="695325" y="1638106"/>
          <a:ext cx="10837862" cy="3888798"/>
        </p:xfrm>
        <a:graphic>
          <a:graphicData uri="http://schemas.openxmlformats.org/drawingml/2006/table">
            <a:tbl>
              <a:tblPr>
                <a:noFill/>
              </a:tblPr>
              <a:tblGrid>
                <a:gridCol w="2808671">
                  <a:extLst>
                    <a:ext uri="{9D8B030D-6E8A-4147-A177-3AD203B41FA5}">
                      <a16:colId xmlns:a16="http://schemas.microsoft.com/office/drawing/2014/main" val="2979480315"/>
                    </a:ext>
                  </a:extLst>
                </a:gridCol>
                <a:gridCol w="2918036">
                  <a:extLst>
                    <a:ext uri="{9D8B030D-6E8A-4147-A177-3AD203B41FA5}">
                      <a16:colId xmlns:a16="http://schemas.microsoft.com/office/drawing/2014/main" val="3031614298"/>
                    </a:ext>
                  </a:extLst>
                </a:gridCol>
                <a:gridCol w="2466577">
                  <a:extLst>
                    <a:ext uri="{9D8B030D-6E8A-4147-A177-3AD203B41FA5}">
                      <a16:colId xmlns:a16="http://schemas.microsoft.com/office/drawing/2014/main" val="3810522733"/>
                    </a:ext>
                  </a:extLst>
                </a:gridCol>
                <a:gridCol w="2644578">
                  <a:extLst>
                    <a:ext uri="{9D8B030D-6E8A-4147-A177-3AD203B41FA5}">
                      <a16:colId xmlns:a16="http://schemas.microsoft.com/office/drawing/2014/main" val="1837030297"/>
                    </a:ext>
                  </a:extLst>
                </a:gridCol>
              </a:tblGrid>
              <a:tr h="559442">
                <a:tc>
                  <a:txBody>
                    <a:bodyPr/>
                    <a:lstStyle/>
                    <a:p>
                      <a:r>
                        <a:rPr lang="en-IN" sz="2000" b="1" cap="none" spc="0" dirty="0">
                          <a:solidFill>
                            <a:schemeClr val="tx1"/>
                          </a:solidFill>
                        </a:rPr>
                        <a:t>Strategy</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Description</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Pros</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000" b="1" cap="none" spc="0" dirty="0">
                          <a:solidFill>
                            <a:schemeClr val="tx1"/>
                          </a:solidFill>
                        </a:rPr>
                        <a:t>Cons</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3720195887"/>
                  </a:ext>
                </a:extLst>
              </a:tr>
              <a:tr h="832339">
                <a:tc>
                  <a:txBody>
                    <a:bodyPr/>
                    <a:lstStyle/>
                    <a:p>
                      <a:r>
                        <a:rPr lang="en-IN" sz="2000" cap="none" spc="0" dirty="0">
                          <a:solidFill>
                            <a:schemeClr val="tx1"/>
                          </a:solidFill>
                        </a:rPr>
                        <a:t>Fixed-length chunking</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Break text into fixed tokens (e.g. 512)</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Easy to implement</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May break semantic boundaries</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81573817"/>
                  </a:ext>
                </a:extLst>
              </a:tr>
              <a:tr h="832339">
                <a:tc>
                  <a:txBody>
                    <a:bodyPr/>
                    <a:lstStyle/>
                    <a:p>
                      <a:r>
                        <a:rPr lang="en-IN" sz="2000" cap="none" spc="0" dirty="0">
                          <a:solidFill>
                            <a:schemeClr val="tx1"/>
                          </a:solidFill>
                        </a:rPr>
                        <a:t>Sentence windowing</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Overlapping chunks across sentences</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Preserves context</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More computation</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421339"/>
                  </a:ext>
                </a:extLst>
              </a:tr>
              <a:tr h="832339">
                <a:tc>
                  <a:txBody>
                    <a:bodyPr/>
                    <a:lstStyle/>
                    <a:p>
                      <a:r>
                        <a:rPr lang="en-IN" sz="2000" cap="none" spc="0" dirty="0">
                          <a:solidFill>
                            <a:schemeClr val="tx1"/>
                          </a:solidFill>
                        </a:rPr>
                        <a:t>Recursive chunking</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Break by semantic units (headings, bullets)</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Better semantic coherence</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Harder to automate</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006173"/>
                  </a:ext>
                </a:extLst>
              </a:tr>
              <a:tr h="832339">
                <a:tc>
                  <a:txBody>
                    <a:bodyPr/>
                    <a:lstStyle/>
                    <a:p>
                      <a:r>
                        <a:rPr lang="en-IN" sz="2000" cap="none" spc="0" dirty="0">
                          <a:solidFill>
                            <a:schemeClr val="tx1"/>
                          </a:solidFill>
                        </a:rPr>
                        <a:t>Sliding window</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Fixed-size chunks with stride (overlap)</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Balances context + simplicity</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000" cap="none" spc="0" dirty="0">
                          <a:solidFill>
                            <a:schemeClr val="tx1"/>
                          </a:solidFill>
                        </a:rPr>
                        <a:t>Can duplicate content</a:t>
                      </a:r>
                    </a:p>
                  </a:txBody>
                  <a:tcPr marL="62361" marR="89087" marT="17817" marB="13363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9987357"/>
                  </a:ext>
                </a:extLst>
              </a:tr>
            </a:tbl>
          </a:graphicData>
        </a:graphic>
      </p:graphicFrame>
      <p:sp>
        <p:nvSpPr>
          <p:cNvPr id="5" name="TextBox 4">
            <a:extLst>
              <a:ext uri="{FF2B5EF4-FFF2-40B4-BE49-F238E27FC236}">
                <a16:creationId xmlns:a16="http://schemas.microsoft.com/office/drawing/2014/main" id="{A41501D7-4673-9404-CEC2-5011E6770D7B}"/>
              </a:ext>
            </a:extLst>
          </p:cNvPr>
          <p:cNvSpPr txBox="1"/>
          <p:nvPr/>
        </p:nvSpPr>
        <p:spPr>
          <a:xfrm>
            <a:off x="704656" y="5665276"/>
            <a:ext cx="10828531" cy="430887"/>
          </a:xfrm>
          <a:prstGeom prst="rect">
            <a:avLst/>
          </a:prstGeom>
          <a:noFill/>
        </p:spPr>
        <p:txBody>
          <a:bodyPr wrap="square" rtlCol="0">
            <a:spAutoFit/>
          </a:bodyPr>
          <a:lstStyle/>
          <a:p>
            <a:r>
              <a:rPr lang="en-IN" sz="2200" b="1" dirty="0"/>
              <a:t>Best Practice:</a:t>
            </a:r>
            <a:r>
              <a:rPr lang="en-IN" sz="2200" dirty="0"/>
              <a:t> Combine recursive chunking + sliding window for high-quality input chunks.</a:t>
            </a:r>
            <a:endParaRPr lang="en-US" sz="2200" dirty="0"/>
          </a:p>
        </p:txBody>
      </p:sp>
    </p:spTree>
    <p:extLst>
      <p:ext uri="{BB962C8B-B14F-4D97-AF65-F5344CB8AC3E}">
        <p14:creationId xmlns:p14="http://schemas.microsoft.com/office/powerpoint/2010/main" val="314380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34A52-D2B4-53BB-6A6A-FA47E8181D16}"/>
              </a:ext>
            </a:extLst>
          </p:cNvPr>
          <p:cNvSpPr>
            <a:spLocks noGrp="1"/>
          </p:cNvSpPr>
          <p:nvPr>
            <p:ph type="title"/>
          </p:nvPr>
        </p:nvSpPr>
        <p:spPr>
          <a:xfrm>
            <a:off x="704655" y="558606"/>
            <a:ext cx="10828533" cy="709807"/>
          </a:xfrm>
        </p:spPr>
        <p:txBody>
          <a:bodyPr/>
          <a:lstStyle/>
          <a:p>
            <a:r>
              <a:rPr lang="en-IN" dirty="0"/>
              <a:t>Retriever-Router-Generator Architecture</a:t>
            </a:r>
            <a:endParaRPr lang="en-US" dirty="0"/>
          </a:p>
        </p:txBody>
      </p:sp>
      <p:sp>
        <p:nvSpPr>
          <p:cNvPr id="3" name="Content Placeholder 2">
            <a:extLst>
              <a:ext uri="{FF2B5EF4-FFF2-40B4-BE49-F238E27FC236}">
                <a16:creationId xmlns:a16="http://schemas.microsoft.com/office/drawing/2014/main" id="{7E8CD6DF-7A36-C8D5-82B0-A982A675BD6D}"/>
              </a:ext>
            </a:extLst>
          </p:cNvPr>
          <p:cNvSpPr>
            <a:spLocks noGrp="1"/>
          </p:cNvSpPr>
          <p:nvPr>
            <p:ph idx="1"/>
          </p:nvPr>
        </p:nvSpPr>
        <p:spPr>
          <a:xfrm>
            <a:off x="704656" y="1638108"/>
            <a:ext cx="10828532" cy="4454718"/>
          </a:xfrm>
        </p:spPr>
        <p:txBody>
          <a:bodyPr>
            <a:noAutofit/>
          </a:bodyPr>
          <a:lstStyle/>
          <a:p>
            <a:pPr marL="0" indent="0">
              <a:spcBef>
                <a:spcPts val="0"/>
              </a:spcBef>
              <a:spcAft>
                <a:spcPts val="600"/>
              </a:spcAft>
              <a:buNone/>
            </a:pPr>
            <a:r>
              <a:rPr lang="en-IN" sz="1800" b="1" dirty="0">
                <a:latin typeface="+mn-lt"/>
              </a:rPr>
              <a:t>1. Retriever</a:t>
            </a:r>
          </a:p>
          <a:p>
            <a:pPr lvl="1">
              <a:spcBef>
                <a:spcPts val="0"/>
              </a:spcBef>
              <a:spcAft>
                <a:spcPts val="600"/>
              </a:spcAft>
            </a:pPr>
            <a:r>
              <a:rPr lang="en-IN" sz="1800" dirty="0">
                <a:latin typeface="+mn-lt"/>
              </a:rPr>
              <a:t>Finds top-k relevant chunks from vector DB (e.g., FAISS, </a:t>
            </a:r>
            <a:r>
              <a:rPr lang="en-IN" sz="1800" dirty="0" err="1">
                <a:latin typeface="+mn-lt"/>
              </a:rPr>
              <a:t>Weaviate</a:t>
            </a:r>
            <a:r>
              <a:rPr lang="en-IN" sz="1800" dirty="0">
                <a:latin typeface="+mn-lt"/>
              </a:rPr>
              <a:t>)</a:t>
            </a:r>
          </a:p>
          <a:p>
            <a:pPr lvl="1">
              <a:spcBef>
                <a:spcPts val="0"/>
              </a:spcBef>
              <a:spcAft>
                <a:spcPts val="600"/>
              </a:spcAft>
            </a:pPr>
            <a:r>
              <a:rPr lang="en-IN" sz="1800" dirty="0">
                <a:latin typeface="+mn-lt"/>
              </a:rPr>
              <a:t>Typically uses dense embeddings (</a:t>
            </a:r>
            <a:r>
              <a:rPr lang="en-IN" sz="1800" dirty="0" err="1">
                <a:latin typeface="+mn-lt"/>
              </a:rPr>
              <a:t>MiniLM</a:t>
            </a:r>
            <a:r>
              <a:rPr lang="en-IN" sz="1800" dirty="0">
                <a:latin typeface="+mn-lt"/>
              </a:rPr>
              <a:t>, OpenAI)</a:t>
            </a:r>
          </a:p>
          <a:p>
            <a:pPr marL="0" indent="0">
              <a:spcBef>
                <a:spcPts val="0"/>
              </a:spcBef>
              <a:spcAft>
                <a:spcPts val="600"/>
              </a:spcAft>
              <a:buNone/>
            </a:pPr>
            <a:r>
              <a:rPr lang="en-IN" sz="1800" b="1" dirty="0">
                <a:latin typeface="+mn-lt"/>
              </a:rPr>
              <a:t>2. Router (Optional)</a:t>
            </a:r>
          </a:p>
          <a:p>
            <a:pPr lvl="1">
              <a:spcBef>
                <a:spcPts val="0"/>
              </a:spcBef>
              <a:spcAft>
                <a:spcPts val="600"/>
              </a:spcAft>
            </a:pPr>
            <a:r>
              <a:rPr lang="en-IN" sz="1800" b="1" dirty="0">
                <a:latin typeface="+mn-lt"/>
              </a:rPr>
              <a:t>Decides how to handle the query:</a:t>
            </a:r>
            <a:endParaRPr lang="en-IN" sz="1800" dirty="0">
              <a:latin typeface="+mn-lt"/>
            </a:endParaRPr>
          </a:p>
          <a:p>
            <a:pPr lvl="2">
              <a:spcBef>
                <a:spcPts val="0"/>
              </a:spcBef>
              <a:spcAft>
                <a:spcPts val="600"/>
              </a:spcAft>
            </a:pPr>
            <a:r>
              <a:rPr lang="en-IN" sz="1800" dirty="0">
                <a:latin typeface="+mn-lt"/>
              </a:rPr>
              <a:t>Route to different retrievers (semantic, keyword)</a:t>
            </a:r>
          </a:p>
          <a:p>
            <a:pPr lvl="2">
              <a:spcBef>
                <a:spcPts val="0"/>
              </a:spcBef>
              <a:spcAft>
                <a:spcPts val="600"/>
              </a:spcAft>
            </a:pPr>
            <a:r>
              <a:rPr lang="en-IN" sz="1800" dirty="0">
                <a:latin typeface="+mn-lt"/>
              </a:rPr>
              <a:t>Apply hybrid search logic</a:t>
            </a:r>
          </a:p>
          <a:p>
            <a:pPr lvl="1">
              <a:spcBef>
                <a:spcPts val="0"/>
              </a:spcBef>
              <a:spcAft>
                <a:spcPts val="600"/>
              </a:spcAft>
            </a:pPr>
            <a:r>
              <a:rPr lang="en-IN" sz="1800" dirty="0">
                <a:latin typeface="+mn-lt"/>
              </a:rPr>
              <a:t>Enables use of multiple data sources or prompt paths</a:t>
            </a:r>
          </a:p>
          <a:p>
            <a:pPr marL="0" indent="0">
              <a:spcBef>
                <a:spcPts val="0"/>
              </a:spcBef>
              <a:spcAft>
                <a:spcPts val="600"/>
              </a:spcAft>
              <a:buNone/>
            </a:pPr>
            <a:r>
              <a:rPr lang="en-IN" sz="1800" b="1" dirty="0">
                <a:latin typeface="+mn-lt"/>
              </a:rPr>
              <a:t>3. Generator</a:t>
            </a:r>
          </a:p>
          <a:p>
            <a:pPr lvl="1">
              <a:spcBef>
                <a:spcPts val="0"/>
              </a:spcBef>
              <a:spcAft>
                <a:spcPts val="600"/>
              </a:spcAft>
            </a:pPr>
            <a:r>
              <a:rPr lang="en-IN" sz="1800" dirty="0">
                <a:latin typeface="+mn-lt"/>
              </a:rPr>
              <a:t>Takes retrieved chunks and user query → generates final answer</a:t>
            </a:r>
          </a:p>
          <a:p>
            <a:pPr lvl="1">
              <a:spcBef>
                <a:spcPts val="0"/>
              </a:spcBef>
              <a:spcAft>
                <a:spcPts val="600"/>
              </a:spcAft>
            </a:pPr>
            <a:r>
              <a:rPr lang="en-IN" sz="1800" dirty="0">
                <a:latin typeface="+mn-lt"/>
              </a:rPr>
              <a:t>Can be GPT-4, Claude, </a:t>
            </a:r>
            <a:r>
              <a:rPr lang="en-IN" sz="1800" dirty="0" err="1">
                <a:latin typeface="+mn-lt"/>
              </a:rPr>
              <a:t>Mixtral</a:t>
            </a:r>
            <a:r>
              <a:rPr lang="en-IN" sz="1800" dirty="0">
                <a:latin typeface="+mn-lt"/>
              </a:rPr>
              <a:t>, etc.</a:t>
            </a:r>
          </a:p>
          <a:p>
            <a:pPr marL="0" indent="0">
              <a:spcBef>
                <a:spcPts val="0"/>
              </a:spcBef>
              <a:spcAft>
                <a:spcPts val="600"/>
              </a:spcAft>
              <a:buNone/>
            </a:pPr>
            <a:br>
              <a:rPr lang="en-IN" sz="1800" b="1" dirty="0">
                <a:latin typeface="+mn-lt"/>
              </a:rPr>
            </a:br>
            <a:r>
              <a:rPr lang="en-IN" sz="1800" b="1" dirty="0">
                <a:latin typeface="+mn-lt"/>
              </a:rPr>
              <a:t>Architecture Diagram:</a:t>
            </a:r>
          </a:p>
          <a:p>
            <a:pPr marL="0" indent="0" algn="ctr">
              <a:spcBef>
                <a:spcPts val="0"/>
              </a:spcBef>
              <a:spcAft>
                <a:spcPts val="600"/>
              </a:spcAft>
              <a:buNone/>
            </a:pPr>
            <a:r>
              <a:rPr lang="en-IN" sz="1800" b="1" i="1" dirty="0">
                <a:highlight>
                  <a:srgbClr val="C0C0C0"/>
                </a:highlight>
                <a:latin typeface="+mn-lt"/>
              </a:rPr>
              <a:t>Query</a:t>
            </a:r>
            <a:r>
              <a:rPr lang="en-IN" sz="1800" b="1" i="1" dirty="0">
                <a:latin typeface="+mn-lt"/>
              </a:rPr>
              <a:t> → </a:t>
            </a:r>
            <a:r>
              <a:rPr lang="en-IN" sz="1800" b="1" i="1" dirty="0">
                <a:highlight>
                  <a:srgbClr val="C0C0C0"/>
                </a:highlight>
                <a:latin typeface="+mn-lt"/>
              </a:rPr>
              <a:t>Retriever</a:t>
            </a:r>
            <a:r>
              <a:rPr lang="en-IN" sz="1800" b="1" i="1" dirty="0">
                <a:latin typeface="+mn-lt"/>
              </a:rPr>
              <a:t> → </a:t>
            </a:r>
            <a:r>
              <a:rPr lang="en-IN" sz="1800" b="1" i="1" dirty="0">
                <a:highlight>
                  <a:srgbClr val="C0C0C0"/>
                </a:highlight>
                <a:latin typeface="+mn-lt"/>
              </a:rPr>
              <a:t>[Router] </a:t>
            </a:r>
            <a:r>
              <a:rPr lang="en-IN" sz="1800" b="1" i="1" dirty="0">
                <a:latin typeface="+mn-lt"/>
              </a:rPr>
              <a:t>→ </a:t>
            </a:r>
            <a:r>
              <a:rPr lang="en-IN" sz="1800" b="1" i="1" dirty="0">
                <a:highlight>
                  <a:srgbClr val="C0C0C0"/>
                </a:highlight>
                <a:latin typeface="+mn-lt"/>
              </a:rPr>
              <a:t>Context + Query</a:t>
            </a:r>
            <a:r>
              <a:rPr lang="en-IN" sz="1800" b="1" i="1" dirty="0">
                <a:latin typeface="+mn-lt"/>
              </a:rPr>
              <a:t> → </a:t>
            </a:r>
            <a:r>
              <a:rPr lang="en-IN" sz="1800" b="1" i="1" dirty="0">
                <a:highlight>
                  <a:srgbClr val="C0C0C0"/>
                </a:highlight>
                <a:latin typeface="+mn-lt"/>
              </a:rPr>
              <a:t>Generator</a:t>
            </a:r>
            <a:r>
              <a:rPr lang="en-IN" sz="1800" b="1" i="1" dirty="0">
                <a:latin typeface="+mn-lt"/>
              </a:rPr>
              <a:t> → </a:t>
            </a:r>
            <a:r>
              <a:rPr lang="en-IN" sz="1800" b="1" i="1" dirty="0">
                <a:highlight>
                  <a:srgbClr val="C0C0C0"/>
                </a:highlight>
                <a:latin typeface="+mn-lt"/>
              </a:rPr>
              <a:t>Answer</a:t>
            </a:r>
          </a:p>
        </p:txBody>
      </p:sp>
    </p:spTree>
    <p:extLst>
      <p:ext uri="{BB962C8B-B14F-4D97-AF65-F5344CB8AC3E}">
        <p14:creationId xmlns:p14="http://schemas.microsoft.com/office/powerpoint/2010/main" val="614973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D8B43-E652-8832-0D5B-78CCCE5F3414}"/>
              </a:ext>
            </a:extLst>
          </p:cNvPr>
          <p:cNvSpPr>
            <a:spLocks noGrp="1"/>
          </p:cNvSpPr>
          <p:nvPr>
            <p:ph type="title"/>
          </p:nvPr>
        </p:nvSpPr>
        <p:spPr>
          <a:xfrm>
            <a:off x="704655" y="558606"/>
            <a:ext cx="10828532" cy="709807"/>
          </a:xfrm>
        </p:spPr>
        <p:txBody>
          <a:bodyPr/>
          <a:lstStyle/>
          <a:p>
            <a:r>
              <a:rPr lang="en-IN" dirty="0"/>
              <a:t>Evaluating a RAG System – Why and How?</a:t>
            </a:r>
            <a:endParaRPr lang="en-US" dirty="0"/>
          </a:p>
        </p:txBody>
      </p:sp>
      <p:sp>
        <p:nvSpPr>
          <p:cNvPr id="3" name="Content Placeholder 2">
            <a:extLst>
              <a:ext uri="{FF2B5EF4-FFF2-40B4-BE49-F238E27FC236}">
                <a16:creationId xmlns:a16="http://schemas.microsoft.com/office/drawing/2014/main" id="{8DC90C22-C653-86C6-97D0-8A40344759DE}"/>
              </a:ext>
            </a:extLst>
          </p:cNvPr>
          <p:cNvSpPr>
            <a:spLocks noGrp="1"/>
          </p:cNvSpPr>
          <p:nvPr>
            <p:ph idx="1"/>
          </p:nvPr>
        </p:nvSpPr>
        <p:spPr>
          <a:xfrm>
            <a:off x="704656" y="1638106"/>
            <a:ext cx="10828532" cy="4454719"/>
          </a:xfrm>
        </p:spPr>
        <p:txBody>
          <a:bodyPr>
            <a:normAutofit/>
          </a:bodyPr>
          <a:lstStyle/>
          <a:p>
            <a:pPr>
              <a:spcBef>
                <a:spcPts val="600"/>
              </a:spcBef>
              <a:spcAft>
                <a:spcPts val="600"/>
              </a:spcAft>
            </a:pPr>
            <a:r>
              <a:rPr lang="en-IN" sz="2400" dirty="0"/>
              <a:t>RAG models don’t just generate — they </a:t>
            </a:r>
            <a:r>
              <a:rPr lang="en-IN" sz="2400" b="1" dirty="0"/>
              <a:t>retrieve</a:t>
            </a:r>
            <a:r>
              <a:rPr lang="en-IN" sz="2400" dirty="0"/>
              <a:t>.</a:t>
            </a:r>
          </a:p>
          <a:p>
            <a:pPr>
              <a:spcBef>
                <a:spcPts val="600"/>
              </a:spcBef>
              <a:spcAft>
                <a:spcPts val="600"/>
              </a:spcAft>
            </a:pPr>
            <a:r>
              <a:rPr lang="en-IN" sz="2400" dirty="0"/>
              <a:t>You need to evaluate both:</a:t>
            </a:r>
          </a:p>
          <a:p>
            <a:pPr lvl="1">
              <a:spcBef>
                <a:spcPts val="600"/>
              </a:spcBef>
              <a:spcAft>
                <a:spcPts val="600"/>
              </a:spcAft>
            </a:pPr>
            <a:r>
              <a:rPr lang="en-IN" b="1" dirty="0"/>
              <a:t>Retrieval performance</a:t>
            </a:r>
            <a:r>
              <a:rPr lang="en-IN" dirty="0"/>
              <a:t> (</a:t>
            </a:r>
            <a:r>
              <a:rPr lang="en-IN" dirty="0" err="1"/>
              <a:t>precision@k</a:t>
            </a:r>
            <a:r>
              <a:rPr lang="en-IN" dirty="0"/>
              <a:t>)</a:t>
            </a:r>
          </a:p>
          <a:p>
            <a:pPr lvl="1">
              <a:spcBef>
                <a:spcPts val="600"/>
              </a:spcBef>
              <a:spcAft>
                <a:spcPts val="600"/>
              </a:spcAft>
            </a:pPr>
            <a:r>
              <a:rPr lang="en-IN" b="1" dirty="0"/>
              <a:t>Answer generation</a:t>
            </a:r>
            <a:r>
              <a:rPr lang="en-IN" dirty="0"/>
              <a:t> (answer-F1)</a:t>
            </a:r>
          </a:p>
          <a:p>
            <a:pPr marL="0" indent="0">
              <a:spcBef>
                <a:spcPts val="600"/>
              </a:spcBef>
              <a:spcAft>
                <a:spcPts val="600"/>
              </a:spcAft>
              <a:buNone/>
            </a:pPr>
            <a:r>
              <a:rPr lang="en-IN" sz="2400" b="1" dirty="0"/>
              <a:t>Why it matters:</a:t>
            </a:r>
            <a:endParaRPr lang="en-IN" sz="2400" dirty="0"/>
          </a:p>
          <a:p>
            <a:pPr lvl="1">
              <a:spcBef>
                <a:spcPts val="600"/>
              </a:spcBef>
              <a:spcAft>
                <a:spcPts val="600"/>
              </a:spcAft>
            </a:pPr>
            <a:r>
              <a:rPr lang="en-IN" dirty="0"/>
              <a:t>Without good retrieval, even GPT-4 will hallucinate.</a:t>
            </a:r>
          </a:p>
          <a:p>
            <a:pPr lvl="1">
              <a:spcBef>
                <a:spcPts val="600"/>
              </a:spcBef>
              <a:spcAft>
                <a:spcPts val="600"/>
              </a:spcAft>
            </a:pPr>
            <a:r>
              <a:rPr lang="en-IN" dirty="0"/>
              <a:t>Answer F1 alone can’t tell you if retrieval worked.</a:t>
            </a:r>
          </a:p>
        </p:txBody>
      </p:sp>
    </p:spTree>
    <p:extLst>
      <p:ext uri="{BB962C8B-B14F-4D97-AF65-F5344CB8AC3E}">
        <p14:creationId xmlns:p14="http://schemas.microsoft.com/office/powerpoint/2010/main" val="38783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A732C-E1E5-8EAA-86AA-D86716437878}"/>
              </a:ext>
            </a:extLst>
          </p:cNvPr>
          <p:cNvSpPr>
            <a:spLocks noGrp="1"/>
          </p:cNvSpPr>
          <p:nvPr>
            <p:ph type="title"/>
          </p:nvPr>
        </p:nvSpPr>
        <p:spPr>
          <a:xfrm>
            <a:off x="704656" y="558606"/>
            <a:ext cx="10828532" cy="709807"/>
          </a:xfrm>
        </p:spPr>
        <p:txBody>
          <a:bodyPr/>
          <a:lstStyle/>
          <a:p>
            <a:r>
              <a:rPr lang="en-IN" dirty="0"/>
              <a:t>Retrieval Evaluation – </a:t>
            </a:r>
            <a:r>
              <a:rPr lang="en-IN" dirty="0" err="1"/>
              <a:t>Precision@K</a:t>
            </a:r>
            <a:endParaRPr lang="en-US" dirty="0"/>
          </a:p>
        </p:txBody>
      </p:sp>
      <p:sp>
        <p:nvSpPr>
          <p:cNvPr id="3" name="Content Placeholder 2">
            <a:extLst>
              <a:ext uri="{FF2B5EF4-FFF2-40B4-BE49-F238E27FC236}">
                <a16:creationId xmlns:a16="http://schemas.microsoft.com/office/drawing/2014/main" id="{EAC4314C-BF4A-4235-E0C0-796422A6E5FF}"/>
              </a:ext>
            </a:extLst>
          </p:cNvPr>
          <p:cNvSpPr>
            <a:spLocks noGrp="1"/>
          </p:cNvSpPr>
          <p:nvPr>
            <p:ph idx="1"/>
          </p:nvPr>
        </p:nvSpPr>
        <p:spPr>
          <a:xfrm>
            <a:off x="704656" y="1638106"/>
            <a:ext cx="10828532" cy="4454719"/>
          </a:xfrm>
        </p:spPr>
        <p:txBody>
          <a:bodyPr>
            <a:noAutofit/>
          </a:bodyPr>
          <a:lstStyle/>
          <a:p>
            <a:pPr marL="0" indent="0">
              <a:spcBef>
                <a:spcPts val="600"/>
              </a:spcBef>
              <a:spcAft>
                <a:spcPts val="600"/>
              </a:spcAft>
              <a:buNone/>
            </a:pPr>
            <a:r>
              <a:rPr lang="en-IN" sz="2200" b="1" dirty="0"/>
              <a:t>What is </a:t>
            </a:r>
            <a:r>
              <a:rPr lang="en-IN" sz="2200" b="1" dirty="0" err="1"/>
              <a:t>Precision@K</a:t>
            </a:r>
            <a:r>
              <a:rPr lang="en-IN" sz="2200" b="1" dirty="0"/>
              <a:t>?</a:t>
            </a:r>
          </a:p>
          <a:p>
            <a:pPr lvl="1">
              <a:spcBef>
                <a:spcPts val="600"/>
              </a:spcBef>
              <a:spcAft>
                <a:spcPts val="600"/>
              </a:spcAft>
            </a:pPr>
            <a:r>
              <a:rPr lang="en-IN" sz="2200" dirty="0"/>
              <a:t>Measures: </a:t>
            </a:r>
            <a:r>
              <a:rPr lang="en-IN" sz="2200" i="1" dirty="0"/>
              <a:t>Of top-k retrieved chunks, how many are actually relevant?</a:t>
            </a:r>
          </a:p>
          <a:p>
            <a:pPr lvl="1">
              <a:spcBef>
                <a:spcPts val="600"/>
              </a:spcBef>
              <a:spcAft>
                <a:spcPts val="600"/>
              </a:spcAft>
            </a:pPr>
            <a:r>
              <a:rPr lang="en-IN" sz="2200" b="1" dirty="0"/>
              <a:t>Formula: </a:t>
            </a:r>
          </a:p>
          <a:p>
            <a:pPr marL="457200" lvl="1" indent="0">
              <a:spcBef>
                <a:spcPts val="600"/>
              </a:spcBef>
              <a:spcAft>
                <a:spcPts val="600"/>
              </a:spcAft>
              <a:buNone/>
            </a:pPr>
            <a:endParaRPr lang="en-IN" sz="2200" b="1" dirty="0"/>
          </a:p>
          <a:p>
            <a:pPr marL="0" indent="0">
              <a:spcBef>
                <a:spcPts val="600"/>
              </a:spcBef>
              <a:spcAft>
                <a:spcPts val="600"/>
              </a:spcAft>
              <a:buNone/>
            </a:pPr>
            <a:r>
              <a:rPr lang="en-IN" sz="2200" dirty="0"/>
              <a:t>Use labelled gold passages (or answer spans) for comparison</a:t>
            </a:r>
          </a:p>
          <a:p>
            <a:pPr marL="0" indent="0">
              <a:spcBef>
                <a:spcPts val="600"/>
              </a:spcBef>
              <a:spcAft>
                <a:spcPts val="600"/>
              </a:spcAft>
              <a:buNone/>
            </a:pPr>
            <a:r>
              <a:rPr lang="en-IN" sz="2200" b="1" dirty="0"/>
              <a:t>Example:</a:t>
            </a:r>
          </a:p>
          <a:p>
            <a:pPr marL="0" indent="0">
              <a:spcBef>
                <a:spcPts val="600"/>
              </a:spcBef>
              <a:spcAft>
                <a:spcPts val="600"/>
              </a:spcAft>
              <a:buNone/>
            </a:pPr>
            <a:r>
              <a:rPr lang="en-IN" sz="2200" dirty="0"/>
              <a:t>Retrieved 5 chunks, 3 were relevant → Precision@5 = 0.6</a:t>
            </a:r>
          </a:p>
          <a:p>
            <a:pPr marL="0" indent="0">
              <a:spcBef>
                <a:spcPts val="600"/>
              </a:spcBef>
              <a:spcAft>
                <a:spcPts val="600"/>
              </a:spcAft>
              <a:buNone/>
            </a:pPr>
            <a:r>
              <a:rPr lang="en-IN" sz="2200" b="1" dirty="0"/>
              <a:t>Tips:</a:t>
            </a:r>
            <a:endParaRPr lang="en-IN" sz="2200" dirty="0"/>
          </a:p>
          <a:p>
            <a:pPr marL="0" indent="0">
              <a:spcBef>
                <a:spcPts val="600"/>
              </a:spcBef>
              <a:spcAft>
                <a:spcPts val="600"/>
              </a:spcAft>
              <a:buNone/>
            </a:pPr>
            <a:r>
              <a:rPr lang="en-IN" sz="2200" dirty="0"/>
              <a:t>Use k = 3 or 5 for typical RAG systems</a:t>
            </a:r>
            <a:br>
              <a:rPr lang="en-IN" sz="2200" dirty="0"/>
            </a:br>
            <a:r>
              <a:rPr lang="en-IN" sz="2200" dirty="0"/>
              <a:t>Automate with datasets like </a:t>
            </a:r>
            <a:r>
              <a:rPr lang="en-IN" sz="2200" dirty="0" err="1"/>
              <a:t>HotpotQA</a:t>
            </a:r>
            <a:r>
              <a:rPr lang="en-IN" sz="2200" dirty="0"/>
              <a:t> or custom gold labels</a:t>
            </a:r>
          </a:p>
        </p:txBody>
      </p:sp>
      <p:pic>
        <p:nvPicPr>
          <p:cNvPr id="5" name="Picture 4">
            <a:extLst>
              <a:ext uri="{FF2B5EF4-FFF2-40B4-BE49-F238E27FC236}">
                <a16:creationId xmlns:a16="http://schemas.microsoft.com/office/drawing/2014/main" id="{56DA3386-5091-05E0-0494-CB7D2BA965AC}"/>
              </a:ext>
            </a:extLst>
          </p:cNvPr>
          <p:cNvPicPr>
            <a:picLocks noChangeAspect="1"/>
          </p:cNvPicPr>
          <p:nvPr/>
        </p:nvPicPr>
        <p:blipFill>
          <a:blip r:embed="rId2"/>
          <a:srcRect l="5131" t="16639" r="8216"/>
          <a:stretch>
            <a:fillRect/>
          </a:stretch>
        </p:blipFill>
        <p:spPr>
          <a:xfrm>
            <a:off x="2836506" y="2677884"/>
            <a:ext cx="3965510" cy="573833"/>
          </a:xfrm>
          <a:prstGeom prst="rect">
            <a:avLst/>
          </a:prstGeom>
        </p:spPr>
      </p:pic>
    </p:spTree>
    <p:extLst>
      <p:ext uri="{BB962C8B-B14F-4D97-AF65-F5344CB8AC3E}">
        <p14:creationId xmlns:p14="http://schemas.microsoft.com/office/powerpoint/2010/main" val="2426446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CF79-A1CC-68AF-6BC1-864071471A68}"/>
              </a:ext>
            </a:extLst>
          </p:cNvPr>
          <p:cNvSpPr>
            <a:spLocks noGrp="1"/>
          </p:cNvSpPr>
          <p:nvPr>
            <p:ph type="title"/>
          </p:nvPr>
        </p:nvSpPr>
        <p:spPr>
          <a:xfrm>
            <a:off x="704655" y="558606"/>
            <a:ext cx="10828533" cy="709807"/>
          </a:xfrm>
        </p:spPr>
        <p:txBody>
          <a:bodyPr/>
          <a:lstStyle/>
          <a:p>
            <a:r>
              <a:rPr lang="en-IN" dirty="0"/>
              <a:t>Answer Evaluation – Answer F1</a:t>
            </a:r>
            <a:endParaRPr lang="en-US" dirty="0"/>
          </a:p>
        </p:txBody>
      </p:sp>
      <p:sp>
        <p:nvSpPr>
          <p:cNvPr id="3" name="Content Placeholder 2">
            <a:extLst>
              <a:ext uri="{FF2B5EF4-FFF2-40B4-BE49-F238E27FC236}">
                <a16:creationId xmlns:a16="http://schemas.microsoft.com/office/drawing/2014/main" id="{EBE710CA-943B-5071-97FD-E7CADC3FD69F}"/>
              </a:ext>
            </a:extLst>
          </p:cNvPr>
          <p:cNvSpPr>
            <a:spLocks noGrp="1"/>
          </p:cNvSpPr>
          <p:nvPr>
            <p:ph idx="1"/>
          </p:nvPr>
        </p:nvSpPr>
        <p:spPr>
          <a:xfrm>
            <a:off x="704655" y="1638106"/>
            <a:ext cx="10828533" cy="4454719"/>
          </a:xfrm>
        </p:spPr>
        <p:txBody>
          <a:bodyPr>
            <a:normAutofit fontScale="92500" lnSpcReduction="20000"/>
          </a:bodyPr>
          <a:lstStyle/>
          <a:p>
            <a:pPr marL="0" indent="0">
              <a:spcBef>
                <a:spcPts val="600"/>
              </a:spcBef>
              <a:spcAft>
                <a:spcPts val="600"/>
              </a:spcAft>
              <a:buNone/>
            </a:pPr>
            <a:r>
              <a:rPr lang="en-IN" sz="2400" b="1" dirty="0"/>
              <a:t>What is Answer-F1?</a:t>
            </a:r>
          </a:p>
          <a:p>
            <a:pPr lvl="1">
              <a:spcBef>
                <a:spcPts val="600"/>
              </a:spcBef>
              <a:spcAft>
                <a:spcPts val="600"/>
              </a:spcAft>
            </a:pPr>
            <a:r>
              <a:rPr lang="en-IN" dirty="0"/>
              <a:t>Measures overlap between predicted and ground-truth answers (word-level)</a:t>
            </a:r>
          </a:p>
          <a:p>
            <a:pPr lvl="1">
              <a:spcBef>
                <a:spcPts val="600"/>
              </a:spcBef>
              <a:spcAft>
                <a:spcPts val="600"/>
              </a:spcAft>
            </a:pPr>
            <a:r>
              <a:rPr lang="en-IN" dirty="0"/>
              <a:t>Combines precision and recall:</a:t>
            </a:r>
          </a:p>
          <a:p>
            <a:pPr marL="457200" lvl="1" indent="0">
              <a:spcBef>
                <a:spcPts val="600"/>
              </a:spcBef>
              <a:spcAft>
                <a:spcPts val="600"/>
              </a:spcAft>
              <a:buNone/>
            </a:pPr>
            <a:endParaRPr lang="en-IN" dirty="0"/>
          </a:p>
          <a:p>
            <a:pPr>
              <a:spcBef>
                <a:spcPts val="600"/>
              </a:spcBef>
              <a:spcAft>
                <a:spcPts val="600"/>
              </a:spcAft>
              <a:buNone/>
            </a:pPr>
            <a:r>
              <a:rPr lang="en-IN" sz="2400" b="1" dirty="0"/>
              <a:t>Example:</a:t>
            </a:r>
          </a:p>
          <a:p>
            <a:pPr lvl="1">
              <a:spcBef>
                <a:spcPts val="600"/>
              </a:spcBef>
              <a:spcAft>
                <a:spcPts val="600"/>
              </a:spcAft>
            </a:pPr>
            <a:r>
              <a:rPr lang="en-IN" b="1" dirty="0"/>
              <a:t>Predicted:</a:t>
            </a:r>
            <a:r>
              <a:rPr lang="en-IN" dirty="0"/>
              <a:t> “Barack Obama”</a:t>
            </a:r>
          </a:p>
          <a:p>
            <a:pPr lvl="1">
              <a:spcBef>
                <a:spcPts val="600"/>
              </a:spcBef>
              <a:spcAft>
                <a:spcPts val="600"/>
              </a:spcAft>
            </a:pPr>
            <a:r>
              <a:rPr lang="en-IN" b="1" dirty="0"/>
              <a:t>Ground Truth:</a:t>
            </a:r>
            <a:r>
              <a:rPr lang="en-IN" dirty="0"/>
              <a:t> “Obama”</a:t>
            </a:r>
          </a:p>
          <a:p>
            <a:pPr lvl="1">
              <a:spcBef>
                <a:spcPts val="600"/>
              </a:spcBef>
              <a:spcAft>
                <a:spcPts val="600"/>
              </a:spcAft>
            </a:pPr>
            <a:r>
              <a:rPr lang="en-IN" b="1" dirty="0"/>
              <a:t>Answer-F1:</a:t>
            </a:r>
            <a:r>
              <a:rPr lang="en-IN" dirty="0"/>
              <a:t> ~0.67</a:t>
            </a:r>
          </a:p>
          <a:p>
            <a:pPr>
              <a:spcBef>
                <a:spcPts val="600"/>
              </a:spcBef>
              <a:spcAft>
                <a:spcPts val="600"/>
              </a:spcAft>
              <a:buNone/>
            </a:pPr>
            <a:r>
              <a:rPr lang="en-IN" sz="2400" b="1" dirty="0"/>
              <a:t>Automated Tools:</a:t>
            </a:r>
            <a:endParaRPr lang="en-IN" sz="2400" dirty="0"/>
          </a:p>
          <a:p>
            <a:pPr lvl="1">
              <a:spcBef>
                <a:spcPts val="600"/>
              </a:spcBef>
              <a:spcAft>
                <a:spcPts val="600"/>
              </a:spcAft>
            </a:pPr>
            <a:r>
              <a:rPr lang="en-IN" dirty="0">
                <a:hlinkClick r:id="rId2"/>
              </a:rPr>
              <a:t>Squad Evaluation Script</a:t>
            </a:r>
            <a:endParaRPr lang="en-IN" dirty="0"/>
          </a:p>
          <a:p>
            <a:pPr lvl="1">
              <a:spcBef>
                <a:spcPts val="600"/>
              </a:spcBef>
              <a:spcAft>
                <a:spcPts val="600"/>
              </a:spcAft>
            </a:pPr>
            <a:r>
              <a:rPr lang="en-IN" dirty="0" err="1"/>
              <a:t>LangChain</a:t>
            </a:r>
            <a:r>
              <a:rPr lang="en-IN" dirty="0"/>
              <a:t> RAG metrics</a:t>
            </a:r>
          </a:p>
        </p:txBody>
      </p:sp>
      <p:pic>
        <p:nvPicPr>
          <p:cNvPr id="4" name="Picture 3">
            <a:extLst>
              <a:ext uri="{FF2B5EF4-FFF2-40B4-BE49-F238E27FC236}">
                <a16:creationId xmlns:a16="http://schemas.microsoft.com/office/drawing/2014/main" id="{78AD8089-E990-F85B-A6A6-95D88D537307}"/>
              </a:ext>
            </a:extLst>
          </p:cNvPr>
          <p:cNvPicPr>
            <a:picLocks noChangeAspect="1"/>
          </p:cNvPicPr>
          <p:nvPr/>
        </p:nvPicPr>
        <p:blipFill>
          <a:blip r:embed="rId3"/>
          <a:stretch>
            <a:fillRect/>
          </a:stretch>
        </p:blipFill>
        <p:spPr>
          <a:xfrm>
            <a:off x="5163679" y="2547443"/>
            <a:ext cx="3591192" cy="696551"/>
          </a:xfrm>
          <a:prstGeom prst="rect">
            <a:avLst/>
          </a:prstGeom>
        </p:spPr>
      </p:pic>
    </p:spTree>
    <p:extLst>
      <p:ext uri="{BB962C8B-B14F-4D97-AF65-F5344CB8AC3E}">
        <p14:creationId xmlns:p14="http://schemas.microsoft.com/office/powerpoint/2010/main" val="1929850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6F2CA-9770-49AA-65C9-25B0A25AA05C}"/>
              </a:ext>
            </a:extLst>
          </p:cNvPr>
          <p:cNvSpPr>
            <a:spLocks noGrp="1"/>
          </p:cNvSpPr>
          <p:nvPr>
            <p:ph type="title"/>
          </p:nvPr>
        </p:nvSpPr>
        <p:spPr>
          <a:xfrm>
            <a:off x="704655" y="558607"/>
            <a:ext cx="10828533" cy="709806"/>
          </a:xfrm>
        </p:spPr>
        <p:txBody>
          <a:bodyPr/>
          <a:lstStyle/>
          <a:p>
            <a:r>
              <a:rPr lang="en-IN" dirty="0"/>
              <a:t>Combined RAG Evaluation Strategy</a:t>
            </a:r>
            <a:endParaRPr lang="en-US" dirty="0"/>
          </a:p>
        </p:txBody>
      </p:sp>
      <p:graphicFrame>
        <p:nvGraphicFramePr>
          <p:cNvPr id="4" name="Content Placeholder 3">
            <a:extLst>
              <a:ext uri="{FF2B5EF4-FFF2-40B4-BE49-F238E27FC236}">
                <a16:creationId xmlns:a16="http://schemas.microsoft.com/office/drawing/2014/main" id="{D12241B0-66BB-05DB-E24D-F1D330844278}"/>
              </a:ext>
            </a:extLst>
          </p:cNvPr>
          <p:cNvGraphicFramePr>
            <a:graphicFrameLocks noGrp="1"/>
          </p:cNvGraphicFramePr>
          <p:nvPr>
            <p:ph idx="1"/>
            <p:extLst>
              <p:ext uri="{D42A27DB-BD31-4B8C-83A1-F6EECF244321}">
                <p14:modId xmlns:p14="http://schemas.microsoft.com/office/powerpoint/2010/main" val="211401086"/>
              </p:ext>
            </p:extLst>
          </p:nvPr>
        </p:nvGraphicFramePr>
        <p:xfrm>
          <a:off x="695326" y="1628775"/>
          <a:ext cx="10837863" cy="4468518"/>
        </p:xfrm>
        <a:graphic>
          <a:graphicData uri="http://schemas.openxmlformats.org/drawingml/2006/table">
            <a:tbl>
              <a:tblPr/>
              <a:tblGrid>
                <a:gridCol w="3612621">
                  <a:extLst>
                    <a:ext uri="{9D8B030D-6E8A-4147-A177-3AD203B41FA5}">
                      <a16:colId xmlns:a16="http://schemas.microsoft.com/office/drawing/2014/main" val="2755597192"/>
                    </a:ext>
                  </a:extLst>
                </a:gridCol>
                <a:gridCol w="3612621">
                  <a:extLst>
                    <a:ext uri="{9D8B030D-6E8A-4147-A177-3AD203B41FA5}">
                      <a16:colId xmlns:a16="http://schemas.microsoft.com/office/drawing/2014/main" val="2845552131"/>
                    </a:ext>
                  </a:extLst>
                </a:gridCol>
                <a:gridCol w="3612621">
                  <a:extLst>
                    <a:ext uri="{9D8B030D-6E8A-4147-A177-3AD203B41FA5}">
                      <a16:colId xmlns:a16="http://schemas.microsoft.com/office/drawing/2014/main" val="3439187649"/>
                    </a:ext>
                  </a:extLst>
                </a:gridCol>
              </a:tblGrid>
              <a:tr h="662829">
                <a:tc>
                  <a:txBody>
                    <a:bodyPr/>
                    <a:lstStyle/>
                    <a:p>
                      <a:r>
                        <a:rPr lang="en-IN" sz="2400" b="1" dirty="0"/>
                        <a:t>Stage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400" b="1" dirty="0"/>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tc>
                  <a:txBody>
                    <a:bodyPr/>
                    <a:lstStyle/>
                    <a:p>
                      <a:r>
                        <a:rPr lang="en-IN" sz="2400" b="1" dirty="0"/>
                        <a:t>Tool/Technique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10000"/>
                        <a:lumOff val="90000"/>
                      </a:schemeClr>
                    </a:solidFill>
                  </a:tcPr>
                </a:tc>
                <a:extLst>
                  <a:ext uri="{0D108BD9-81ED-4DB2-BD59-A6C34878D82A}">
                    <a16:rowId xmlns:a16="http://schemas.microsoft.com/office/drawing/2014/main" val="950224223"/>
                  </a:ext>
                </a:extLst>
              </a:tr>
              <a:tr h="818493">
                <a:tc>
                  <a:txBody>
                    <a:bodyPr/>
                    <a:lstStyle/>
                    <a:p>
                      <a:r>
                        <a:rPr lang="en-IN" sz="2400" dirty="0"/>
                        <a:t>Chunking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Manual Review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a:t>Spot check semantic coherence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353508"/>
                  </a:ext>
                </a:extLst>
              </a:tr>
              <a:tr h="1159950">
                <a:tc>
                  <a:txBody>
                    <a:bodyPr/>
                    <a:lstStyle/>
                    <a:p>
                      <a:r>
                        <a:rPr lang="en-IN" sz="2400" dirty="0"/>
                        <a:t>Retrieval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err="1"/>
                        <a:t>Precision@k</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Evaluate relevance using gold passages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7218152"/>
                  </a:ext>
                </a:extLst>
              </a:tr>
              <a:tr h="1159950">
                <a:tc>
                  <a:txBody>
                    <a:bodyPr/>
                    <a:lstStyle/>
                    <a:p>
                      <a:r>
                        <a:rPr lang="en-IN" sz="2400"/>
                        <a:t>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Answer-F1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Token-overlap with ground truth answer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551663"/>
                  </a:ext>
                </a:extLst>
              </a:tr>
              <a:tr h="662829">
                <a:tc>
                  <a:txBody>
                    <a:bodyPr/>
                    <a:lstStyle/>
                    <a:p>
                      <a:r>
                        <a:rPr lang="en-IN" sz="2400" dirty="0"/>
                        <a:t>End-to-End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Human eval, BLEU, ROUGE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2400" dirty="0"/>
                        <a:t>Optional, task-specific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40157209"/>
                  </a:ext>
                </a:extLst>
              </a:tr>
            </a:tbl>
          </a:graphicData>
        </a:graphic>
      </p:graphicFrame>
    </p:spTree>
    <p:extLst>
      <p:ext uri="{BB962C8B-B14F-4D97-AF65-F5344CB8AC3E}">
        <p14:creationId xmlns:p14="http://schemas.microsoft.com/office/powerpoint/2010/main" val="2704903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695325" y="1628775"/>
            <a:ext cx="10837864" cy="4464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6600" b="1" dirty="0">
              <a:latin typeface="Calibri" panose="020F0502020204030204" pitchFamily="34" charset="0"/>
            </a:endParaRPr>
          </a:p>
        </p:txBody>
      </p:sp>
      <p:sp>
        <p:nvSpPr>
          <p:cNvPr id="8" name="TextBox 7">
            <a:extLst>
              <a:ext uri="{FF2B5EF4-FFF2-40B4-BE49-F238E27FC236}">
                <a16:creationId xmlns:a16="http://schemas.microsoft.com/office/drawing/2014/main" id="{DCC43D96-5A1C-942E-F935-AEDB3980E1D2}"/>
              </a:ext>
            </a:extLst>
          </p:cNvPr>
          <p:cNvSpPr txBox="1"/>
          <p:nvPr/>
        </p:nvSpPr>
        <p:spPr>
          <a:xfrm>
            <a:off x="695325" y="2283402"/>
            <a:ext cx="10837864" cy="1415772"/>
          </a:xfrm>
          <a:prstGeom prst="rect">
            <a:avLst/>
          </a:prstGeom>
          <a:noFill/>
        </p:spPr>
        <p:txBody>
          <a:bodyPr wrap="square">
            <a:spAutoFit/>
          </a:bodyPr>
          <a:lstStyle/>
          <a:p>
            <a:pPr algn="ctr"/>
            <a:r>
              <a:rPr lang="en-US" sz="6600" b="1" dirty="0">
                <a:solidFill>
                  <a:schemeClr val="bg1"/>
                </a:solidFill>
                <a:latin typeface="Calibri" panose="020F0502020204030204" pitchFamily="34" charset="0"/>
              </a:rPr>
              <a:t>Thank You</a:t>
            </a:r>
            <a:br>
              <a:rPr lang="en-US" sz="1800" b="1" dirty="0">
                <a:solidFill>
                  <a:schemeClr val="bg1"/>
                </a:solidFill>
                <a:latin typeface="Calibri" panose="020F0502020204030204" pitchFamily="34" charset="0"/>
              </a:rPr>
            </a:br>
            <a:r>
              <a:rPr lang="en-US" sz="2000" b="1" i="1" dirty="0">
                <a:solidFill>
                  <a:schemeClr val="bg1"/>
                </a:solidFill>
                <a:latin typeface="Calibri" panose="020F0502020204030204" pitchFamily="34" charset="0"/>
              </a:rPr>
              <a:t>(Q&amp;A)</a:t>
            </a:r>
            <a:endParaRPr lang="en-IN" sz="2000" b="1" i="1" dirty="0">
              <a:solidFill>
                <a:schemeClr val="bg1"/>
              </a:solidFill>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7290</TotalTime>
  <Words>486</Words>
  <Application>Microsoft Office PowerPoint</Application>
  <PresentationFormat>Widescreen</PresentationFormat>
  <Paragraphs>103</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BIA Template</vt:lpstr>
      <vt:lpstr>PowerPoint Presentation</vt:lpstr>
      <vt:lpstr>Agenda</vt:lpstr>
      <vt:lpstr>What is a Text-RAG Pipeline?</vt:lpstr>
      <vt:lpstr>Chunking Strategies</vt:lpstr>
      <vt:lpstr>Retriever-Router-Generator Architecture</vt:lpstr>
      <vt:lpstr>Evaluating a RAG System – Why and How?</vt:lpstr>
      <vt:lpstr>Retrieval Evaluation – Precision@K</vt:lpstr>
      <vt:lpstr>Answer Evaluation – Answer F1</vt:lpstr>
      <vt:lpstr>Combined RAG Evaluation Strategy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2305</cp:revision>
  <dcterms:created xsi:type="dcterms:W3CDTF">2020-12-23T13:36:00Z</dcterms:created>
  <dcterms:modified xsi:type="dcterms:W3CDTF">2025-06-07T08:26:17Z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